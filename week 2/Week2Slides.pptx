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02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6" r:id="rId29"/>
    <p:sldId id="288" r:id="rId30"/>
    <p:sldId id="301" r:id="rId31"/>
    <p:sldId id="289" r:id="rId32"/>
    <p:sldId id="290" r:id="rId33"/>
    <p:sldId id="303" r:id="rId34"/>
    <p:sldId id="291" r:id="rId35"/>
    <p:sldId id="294" r:id="rId36"/>
    <p:sldId id="295" r:id="rId37"/>
    <p:sldId id="292" r:id="rId38"/>
    <p:sldId id="300" r:id="rId39"/>
    <p:sldId id="293" r:id="rId40"/>
    <p:sldId id="296" r:id="rId41"/>
    <p:sldId id="298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299" r:id="rId5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ghOQz3N+IJLEEDvca6E4sM8UT8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A34A"/>
    <a:srgbClr val="7C3AED"/>
    <a:srgbClr val="0891B2"/>
    <a:srgbClr val="DC2626"/>
    <a:srgbClr val="EA5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57DA4B-BAC7-4D48-AA5B-6CF8F0DF2040}">
  <a:tblStyle styleId="{9457DA4B-BAC7-4D48-AA5B-6CF8F0DF20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WA Hua Leong" userId="73fbda70-d7c9-490d-b806-ae7c5938f604" providerId="ADAL" clId="{6143CF2D-0398-47CE-8586-AF234596B5BB}"/>
    <pc:docChg chg="custSel addSld modSld">
      <pc:chgData name="FWA Hua Leong" userId="73fbda70-d7c9-490d-b806-ae7c5938f604" providerId="ADAL" clId="{6143CF2D-0398-47CE-8586-AF234596B5BB}" dt="2026-08-13T01:39:32.489" v="566" actId="20577"/>
      <pc:docMkLst>
        <pc:docMk/>
      </pc:docMkLst>
      <pc:sldChg chg="addSp modSp mod">
        <pc:chgData name="FWA Hua Leong" userId="73fbda70-d7c9-490d-b806-ae7c5938f604" providerId="ADAL" clId="{6143CF2D-0398-47CE-8586-AF234596B5BB}" dt="2026-07-28T06:51:23.936" v="34" actId="1076"/>
        <pc:sldMkLst>
          <pc:docMk/>
          <pc:sldMk cId="0" sldId="291"/>
        </pc:sldMkLst>
        <pc:spChg chg="add mod">
          <ac:chgData name="FWA Hua Leong" userId="73fbda70-d7c9-490d-b806-ae7c5938f604" providerId="ADAL" clId="{6143CF2D-0398-47CE-8586-AF234596B5BB}" dt="2026-07-28T06:51:23.936" v="34" actId="1076"/>
          <ac:spMkLst>
            <pc:docMk/>
            <pc:sldMk cId="0" sldId="291"/>
            <ac:spMk id="4" creationId="{BF1F9330-4CE2-8B5D-FDA0-25BA1514B64D}"/>
          </ac:spMkLst>
        </pc:spChg>
      </pc:sldChg>
      <pc:sldChg chg="addSp delSp modSp new mod">
        <pc:chgData name="FWA Hua Leong" userId="73fbda70-d7c9-490d-b806-ae7c5938f604" providerId="ADAL" clId="{6143CF2D-0398-47CE-8586-AF234596B5BB}" dt="2026-08-13T01:39:32.489" v="566" actId="20577"/>
        <pc:sldMkLst>
          <pc:docMk/>
          <pc:sldMk cId="1139630814" sldId="310"/>
        </pc:sldMkLst>
        <pc:spChg chg="mod">
          <ac:chgData name="FWA Hua Leong" userId="73fbda70-d7c9-490d-b806-ae7c5938f604" providerId="ADAL" clId="{6143CF2D-0398-47CE-8586-AF234596B5BB}" dt="2026-08-13T01:33:24.234" v="66" actId="20577"/>
          <ac:spMkLst>
            <pc:docMk/>
            <pc:sldMk cId="1139630814" sldId="310"/>
            <ac:spMk id="2" creationId="{C555F9C8-053C-89FB-2C77-2ED1E409ED88}"/>
          </ac:spMkLst>
        </pc:spChg>
        <pc:spChg chg="mod">
          <ac:chgData name="FWA Hua Leong" userId="73fbda70-d7c9-490d-b806-ae7c5938f604" providerId="ADAL" clId="{6143CF2D-0398-47CE-8586-AF234596B5BB}" dt="2026-08-13T01:39:32.489" v="566" actId="20577"/>
          <ac:spMkLst>
            <pc:docMk/>
            <pc:sldMk cId="1139630814" sldId="310"/>
            <ac:spMk id="3" creationId="{B9649516-551C-ABED-711E-6448B08EA607}"/>
          </ac:spMkLst>
        </pc:spChg>
        <pc:spChg chg="del">
          <ac:chgData name="FWA Hua Leong" userId="73fbda70-d7c9-490d-b806-ae7c5938f604" providerId="ADAL" clId="{6143CF2D-0398-47CE-8586-AF234596B5BB}" dt="2026-08-13T01:33:41.889" v="67" actId="478"/>
          <ac:spMkLst>
            <pc:docMk/>
            <pc:sldMk cId="1139630814" sldId="310"/>
            <ac:spMk id="4" creationId="{3FB08276-CBD7-7D5E-B725-31868AD5F976}"/>
          </ac:spMkLst>
        </pc:spChg>
        <pc:spChg chg="add del">
          <ac:chgData name="FWA Hua Leong" userId="73fbda70-d7c9-490d-b806-ae7c5938f604" providerId="ADAL" clId="{6143CF2D-0398-47CE-8586-AF234596B5BB}" dt="2026-08-13T01:37:24.681" v="227" actId="21"/>
          <ac:spMkLst>
            <pc:docMk/>
            <pc:sldMk cId="1139630814" sldId="310"/>
            <ac:spMk id="8" creationId="{C76D228B-A6BB-5AB1-17D7-71A02FFC6324}"/>
          </ac:spMkLst>
        </pc:spChg>
        <pc:picChg chg="add mod">
          <ac:chgData name="FWA Hua Leong" userId="73fbda70-d7c9-490d-b806-ae7c5938f604" providerId="ADAL" clId="{6143CF2D-0398-47CE-8586-AF234596B5BB}" dt="2026-08-13T01:34:35.828" v="71" actId="14100"/>
          <ac:picMkLst>
            <pc:docMk/>
            <pc:sldMk cId="1139630814" sldId="310"/>
            <ac:picMk id="6" creationId="{1C226768-5546-66BD-8019-064663C6C0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D1E314BE-C2A7-FCE3-914F-C1509981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>
            <a:extLst>
              <a:ext uri="{FF2B5EF4-FFF2-40B4-BE49-F238E27FC236}">
                <a16:creationId xmlns:a16="http://schemas.microsoft.com/office/drawing/2014/main" id="{95CAB407-4FF7-4A06-5C88-CCF0D918E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>
            <a:extLst>
              <a:ext uri="{FF2B5EF4-FFF2-40B4-BE49-F238E27FC236}">
                <a16:creationId xmlns:a16="http://schemas.microsoft.com/office/drawing/2014/main" id="{C80789D0-3763-240B-AA6A-3AC9330C5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191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margin : auto -&gt; </a:t>
            </a:r>
            <a:r>
              <a:rPr lang="en-SG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browser calculates the margin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1" name="Google Shape;11;p47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2" name="Google Shape;12;p47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7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p50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5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54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6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56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C2744-4397-A48F-24D5-AD3E78C92B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56050" y="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selectors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3schools.com/cssref/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oom.com/share/7536f2d4cb6f4974a610a1b40e352e59?sid=5bd4b026-e9f1-4ab6-81ca-1e51f07b217f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546862ab687340cea7bcb1b3ad0374a4?sid=3b2f3af8-0995-4980-89a2-fc6e58034d8c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tryit.asp?filename=trycss_list-style-image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311d90dc8c644c3d85ec589de394b759?sid=95e7be19-cc62-4876-b4c3-20e0ddaefd25" TargetMode="Externa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tryit.asp?filename=trycss_anim_z-index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2668780" y="396240"/>
            <a:ext cx="4006340" cy="2585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Web Application Development II</a:t>
            </a:r>
            <a:endParaRPr/>
          </a:p>
        </p:txBody>
      </p:sp>
      <p:sp>
        <p:nvSpPr>
          <p:cNvPr id="63" name="Google Shape;63;p1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Week 2: CSS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822960" y="222303"/>
            <a:ext cx="7396070" cy="49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SG" sz="2800" dirty="0"/>
              <a:t>Agenda</a:t>
            </a: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05" y="197095"/>
            <a:ext cx="430389" cy="5435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82B087E8-7059-51D0-F51E-99C1693E4E33}"/>
              </a:ext>
            </a:extLst>
          </p:cNvPr>
          <p:cNvSpPr/>
          <p:nvPr/>
        </p:nvSpPr>
        <p:spPr>
          <a:xfrm>
            <a:off x="296103" y="9961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22FC25E-2965-0B35-7E0C-08F0D5FAB9E5}"/>
              </a:ext>
            </a:extLst>
          </p:cNvPr>
          <p:cNvSpPr/>
          <p:nvPr/>
        </p:nvSpPr>
        <p:spPr>
          <a:xfrm>
            <a:off x="296103" y="996197"/>
            <a:ext cx="502920" cy="1207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5EC2E17-5FED-235F-10CC-5618BCD282C7}"/>
              </a:ext>
            </a:extLst>
          </p:cNvPr>
          <p:cNvSpPr/>
          <p:nvPr/>
        </p:nvSpPr>
        <p:spPr>
          <a:xfrm>
            <a:off x="296103" y="9961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32F3276-5E26-1E77-D5EB-C06C911D338D}"/>
              </a:ext>
            </a:extLst>
          </p:cNvPr>
          <p:cNvSpPr/>
          <p:nvPr/>
        </p:nvSpPr>
        <p:spPr>
          <a:xfrm>
            <a:off x="890463" y="11059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13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C7E632E-0DCB-F9B5-A773-5A9075EE78FB}"/>
              </a:ext>
            </a:extLst>
          </p:cNvPr>
          <p:cNvSpPr/>
          <p:nvPr/>
        </p:nvSpPr>
        <p:spPr>
          <a:xfrm>
            <a:off x="890463" y="14899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CSS in web development, separation of concerns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8DC7974-78DE-4BFA-DAF1-3CC563883F21}"/>
              </a:ext>
            </a:extLst>
          </p:cNvPr>
          <p:cNvSpPr/>
          <p:nvPr/>
        </p:nvSpPr>
        <p:spPr>
          <a:xfrm>
            <a:off x="4730943" y="9961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97D34669-199D-360D-53A9-383C9431AC53}"/>
              </a:ext>
            </a:extLst>
          </p:cNvPr>
          <p:cNvSpPr/>
          <p:nvPr/>
        </p:nvSpPr>
        <p:spPr>
          <a:xfrm>
            <a:off x="4730943" y="996197"/>
            <a:ext cx="502920" cy="1207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E6F1C94-8EA7-7984-5757-E238BA991DF5}"/>
              </a:ext>
            </a:extLst>
          </p:cNvPr>
          <p:cNvSpPr/>
          <p:nvPr/>
        </p:nvSpPr>
        <p:spPr>
          <a:xfrm>
            <a:off x="4730943" y="9961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F066BCE-AB28-2C83-63B0-75724E9EFB0E}"/>
              </a:ext>
            </a:extLst>
          </p:cNvPr>
          <p:cNvSpPr/>
          <p:nvPr/>
        </p:nvSpPr>
        <p:spPr>
          <a:xfrm>
            <a:off x="5325303" y="11059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Use CSS</a:t>
            </a:r>
            <a:endParaRPr lang="en-US" sz="13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EC40C46-F512-7865-AED0-D6680A49661E}"/>
              </a:ext>
            </a:extLst>
          </p:cNvPr>
          <p:cNvSpPr/>
          <p:nvPr/>
        </p:nvSpPr>
        <p:spPr>
          <a:xfrm>
            <a:off x="5325303" y="14899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Inline, Internal style sheet, External style sheet</a:t>
            </a:r>
            <a:endParaRPr lang="en-US" sz="10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4A9BEE7-94C0-C93F-B9A4-66592D2BC519}"/>
              </a:ext>
            </a:extLst>
          </p:cNvPr>
          <p:cNvSpPr/>
          <p:nvPr/>
        </p:nvSpPr>
        <p:spPr>
          <a:xfrm>
            <a:off x="296103" y="23677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A3BD9AF7-C6CC-9086-CE5C-B9749B678357}"/>
              </a:ext>
            </a:extLst>
          </p:cNvPr>
          <p:cNvSpPr/>
          <p:nvPr/>
        </p:nvSpPr>
        <p:spPr>
          <a:xfrm>
            <a:off x="296103" y="2367797"/>
            <a:ext cx="502920" cy="120700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0EA652F-E21C-9E97-15DE-D46A9E1A8E4F}"/>
              </a:ext>
            </a:extLst>
          </p:cNvPr>
          <p:cNvSpPr/>
          <p:nvPr/>
        </p:nvSpPr>
        <p:spPr>
          <a:xfrm>
            <a:off x="296103" y="23677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F17358A-AB4A-8068-776C-F0FDBB310EA6}"/>
              </a:ext>
            </a:extLst>
          </p:cNvPr>
          <p:cNvSpPr/>
          <p:nvPr/>
        </p:nvSpPr>
        <p:spPr>
          <a:xfrm>
            <a:off x="890463" y="24775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Syntax &amp; Selectors</a:t>
            </a:r>
            <a:endParaRPr lang="en-US" sz="13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1B611F47-7DEE-716C-FDAB-30AFE2DA8857}"/>
              </a:ext>
            </a:extLst>
          </p:cNvPr>
          <p:cNvSpPr/>
          <p:nvPr/>
        </p:nvSpPr>
        <p:spPr>
          <a:xfrm>
            <a:off x="890463" y="28615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cascading, properties &amp; values</a:t>
            </a:r>
            <a:endParaRPr lang="en-US" sz="10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B132FE9-DFBA-DA2B-DFAA-C8946D01EFD4}"/>
              </a:ext>
            </a:extLst>
          </p:cNvPr>
          <p:cNvSpPr/>
          <p:nvPr/>
        </p:nvSpPr>
        <p:spPr>
          <a:xfrm>
            <a:off x="4730943" y="23677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4B0A46D-03AF-0FE6-91AA-C4DF01C4C2B6}"/>
              </a:ext>
            </a:extLst>
          </p:cNvPr>
          <p:cNvSpPr/>
          <p:nvPr/>
        </p:nvSpPr>
        <p:spPr>
          <a:xfrm>
            <a:off x="4730943" y="2367797"/>
            <a:ext cx="502920" cy="1207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B08E593-1947-8AE5-4691-8F743A91EB69}"/>
              </a:ext>
            </a:extLst>
          </p:cNvPr>
          <p:cNvSpPr/>
          <p:nvPr/>
        </p:nvSpPr>
        <p:spPr>
          <a:xfrm>
            <a:off x="4730943" y="23677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2B32217E-C2C8-44AE-24D1-D006C92D04A6}"/>
              </a:ext>
            </a:extLst>
          </p:cNvPr>
          <p:cNvSpPr/>
          <p:nvPr/>
        </p:nvSpPr>
        <p:spPr>
          <a:xfrm>
            <a:off x="5325303" y="24775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13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851069E7-D917-83AF-4236-C65F2DD72D48}"/>
              </a:ext>
            </a:extLst>
          </p:cNvPr>
          <p:cNvSpPr/>
          <p:nvPr/>
        </p:nvSpPr>
        <p:spPr>
          <a:xfrm>
            <a:off x="5325303" y="28615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border, margin</a:t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0FB73716-B743-ECB0-3AF8-5040594D730B}"/>
              </a:ext>
            </a:extLst>
          </p:cNvPr>
          <p:cNvSpPr/>
          <p:nvPr/>
        </p:nvSpPr>
        <p:spPr>
          <a:xfrm>
            <a:off x="296103" y="37393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A5CF6348-E8A6-08EA-E6C8-476FFFCC0A35}"/>
              </a:ext>
            </a:extLst>
          </p:cNvPr>
          <p:cNvSpPr/>
          <p:nvPr/>
        </p:nvSpPr>
        <p:spPr>
          <a:xfrm>
            <a:off x="296103" y="3739397"/>
            <a:ext cx="502920" cy="1207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9FEB686-0C5E-2027-1327-7990E1BFA529}"/>
              </a:ext>
            </a:extLst>
          </p:cNvPr>
          <p:cNvSpPr/>
          <p:nvPr/>
        </p:nvSpPr>
        <p:spPr>
          <a:xfrm>
            <a:off x="296103" y="37393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E2ABC9D1-2D30-0A41-7263-A1A50012F83B}"/>
              </a:ext>
            </a:extLst>
          </p:cNvPr>
          <p:cNvSpPr/>
          <p:nvPr/>
        </p:nvSpPr>
        <p:spPr>
          <a:xfrm>
            <a:off x="890463" y="38491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</a:t>
            </a:r>
            <a:endParaRPr lang="en-US" sz="13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A521C858-4376-3DE6-C8EB-552AF23F555E}"/>
              </a:ext>
            </a:extLst>
          </p:cNvPr>
          <p:cNvSpPr/>
          <p:nvPr/>
        </p:nvSpPr>
        <p:spPr>
          <a:xfrm>
            <a:off x="890463" y="42331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flexible layouts</a:t>
            </a:r>
            <a:endParaRPr lang="en-US" sz="10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3ACEC531-164F-82C8-76B8-475F12F37789}"/>
              </a:ext>
            </a:extLst>
          </p:cNvPr>
          <p:cNvSpPr/>
          <p:nvPr/>
        </p:nvSpPr>
        <p:spPr>
          <a:xfrm>
            <a:off x="4730943" y="3739397"/>
            <a:ext cx="420624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B5CCBD4A-8735-302B-60FC-AD79239E75AC}"/>
              </a:ext>
            </a:extLst>
          </p:cNvPr>
          <p:cNvSpPr/>
          <p:nvPr/>
        </p:nvSpPr>
        <p:spPr>
          <a:xfrm>
            <a:off x="4730943" y="3739397"/>
            <a:ext cx="502920" cy="12070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FBD72A7C-6E16-31D7-2070-23A9D64B104D}"/>
              </a:ext>
            </a:extLst>
          </p:cNvPr>
          <p:cNvSpPr/>
          <p:nvPr/>
        </p:nvSpPr>
        <p:spPr>
          <a:xfrm>
            <a:off x="4730943" y="3739397"/>
            <a:ext cx="502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716CB74E-7B9B-E91D-62B2-E1DB81A934E3}"/>
              </a:ext>
            </a:extLst>
          </p:cNvPr>
          <p:cNvSpPr/>
          <p:nvPr/>
        </p:nvSpPr>
        <p:spPr>
          <a:xfrm>
            <a:off x="5325303" y="3849125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Layout</a:t>
            </a:r>
            <a:endParaRPr lang="en-US" sz="13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1232B529-5824-A818-3025-F498FEB09004}"/>
              </a:ext>
            </a:extLst>
          </p:cNvPr>
          <p:cNvSpPr/>
          <p:nvPr/>
        </p:nvSpPr>
        <p:spPr>
          <a:xfrm>
            <a:off x="5325303" y="423317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grid systems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What is CSS?</a:t>
            </a:r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F5F07B-EDEE-63ED-6CF0-56BCF2B8ED2F}"/>
              </a:ext>
            </a:extLst>
          </p:cNvPr>
          <p:cNvSpPr/>
          <p:nvPr/>
        </p:nvSpPr>
        <p:spPr>
          <a:xfrm>
            <a:off x="311700" y="1147225"/>
            <a:ext cx="2606040" cy="192024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6FC3BD-D4AB-76BD-B12A-C2E16920D6E2}"/>
              </a:ext>
            </a:extLst>
          </p:cNvPr>
          <p:cNvSpPr/>
          <p:nvPr/>
        </p:nvSpPr>
        <p:spPr>
          <a:xfrm>
            <a:off x="311700" y="1192945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71D83C-DE73-E21A-D81A-2D412725E13C}"/>
              </a:ext>
            </a:extLst>
          </p:cNvPr>
          <p:cNvSpPr/>
          <p:nvPr/>
        </p:nvSpPr>
        <p:spPr>
          <a:xfrm>
            <a:off x="311700" y="1833025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0D826E-55ED-C01D-08E9-2395C8C82D02}"/>
              </a:ext>
            </a:extLst>
          </p:cNvPr>
          <p:cNvSpPr/>
          <p:nvPr/>
        </p:nvSpPr>
        <p:spPr>
          <a:xfrm>
            <a:off x="311700" y="2317657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— nouns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8049B5-107D-2E52-6651-B517B15DE91B}"/>
              </a:ext>
            </a:extLst>
          </p:cNvPr>
          <p:cNvSpPr/>
          <p:nvPr/>
        </p:nvSpPr>
        <p:spPr>
          <a:xfrm>
            <a:off x="3146340" y="1147225"/>
            <a:ext cx="2606040" cy="19202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25B8F3-C66E-8D8B-C13A-9A956BFD7D3F}"/>
              </a:ext>
            </a:extLst>
          </p:cNvPr>
          <p:cNvSpPr/>
          <p:nvPr/>
        </p:nvSpPr>
        <p:spPr>
          <a:xfrm>
            <a:off x="3146340" y="1192945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778F31-788C-CE24-0B4D-4C3CFE785F59}"/>
              </a:ext>
            </a:extLst>
          </p:cNvPr>
          <p:cNvSpPr/>
          <p:nvPr/>
        </p:nvSpPr>
        <p:spPr>
          <a:xfrm>
            <a:off x="3146340" y="1833025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9A45CB-C325-D8EA-109E-19825CE54F78}"/>
              </a:ext>
            </a:extLst>
          </p:cNvPr>
          <p:cNvSpPr/>
          <p:nvPr/>
        </p:nvSpPr>
        <p:spPr>
          <a:xfrm>
            <a:off x="3146340" y="2317657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adjectives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09622A-B0FD-AF95-552E-DAC22E401AF8}"/>
              </a:ext>
            </a:extLst>
          </p:cNvPr>
          <p:cNvSpPr/>
          <p:nvPr/>
        </p:nvSpPr>
        <p:spPr>
          <a:xfrm>
            <a:off x="5980980" y="1147225"/>
            <a:ext cx="2606040" cy="19202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05801D2-E2C5-58FF-C2E8-D4155037B235}"/>
              </a:ext>
            </a:extLst>
          </p:cNvPr>
          <p:cNvSpPr/>
          <p:nvPr/>
        </p:nvSpPr>
        <p:spPr>
          <a:xfrm>
            <a:off x="5980980" y="1192945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ƒ()</a:t>
            </a: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DADFCA-C104-00BF-0E36-C7BC85BD5D5B}"/>
              </a:ext>
            </a:extLst>
          </p:cNvPr>
          <p:cNvSpPr/>
          <p:nvPr/>
        </p:nvSpPr>
        <p:spPr>
          <a:xfrm>
            <a:off x="5980980" y="1833025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7BF0D2-C128-2206-B8A6-DA46D3F95B71}"/>
              </a:ext>
            </a:extLst>
          </p:cNvPr>
          <p:cNvSpPr/>
          <p:nvPr/>
        </p:nvSpPr>
        <p:spPr>
          <a:xfrm>
            <a:off x="5980980" y="2317657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— verbs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9287C42-E80F-9FA4-4061-222DECFEF046}"/>
              </a:ext>
            </a:extLst>
          </p:cNvPr>
          <p:cNvSpPr/>
          <p:nvPr/>
        </p:nvSpPr>
        <p:spPr>
          <a:xfrm>
            <a:off x="2364944" y="3405942"/>
            <a:ext cx="4414111" cy="1089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content from presentation (format &amp; styling)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3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all pages look similar and consistent site-wide</a:t>
            </a:r>
            <a:b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3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site-wide changes via a single file edit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63573F6-A305-FA8F-D7EB-332603172942}"/>
              </a:ext>
            </a:extLst>
          </p:cNvPr>
          <p:cNvSpPr/>
          <p:nvPr/>
        </p:nvSpPr>
        <p:spPr>
          <a:xfrm>
            <a:off x="2364944" y="3798985"/>
            <a:ext cx="441411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What is CSS?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7E684-6F63-ACAB-0178-74BC75C5F820}"/>
              </a:ext>
            </a:extLst>
          </p:cNvPr>
          <p:cNvSpPr txBox="1"/>
          <p:nvPr/>
        </p:nvSpPr>
        <p:spPr>
          <a:xfrm>
            <a:off x="428476" y="132421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wk2example1.html with </a:t>
            </a:r>
            <a:r>
              <a:rPr lang="en" i="1" dirty="0">
                <a:solidFill>
                  <a:srgbClr val="0070C0"/>
                </a:solidFill>
              </a:rPr>
              <a:t>wk2mystyle1.css </a:t>
            </a:r>
            <a:r>
              <a:rPr lang="en" i="1" dirty="0">
                <a:solidFill>
                  <a:schemeClr val="tx1"/>
                </a:solidFill>
              </a:rPr>
              <a:t>applied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7F45E-6AC9-156D-E10F-4A77CCE0DCE6}"/>
              </a:ext>
            </a:extLst>
          </p:cNvPr>
          <p:cNvSpPr txBox="1"/>
          <p:nvPr/>
        </p:nvSpPr>
        <p:spPr>
          <a:xfrm>
            <a:off x="428476" y="28704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wk2example1.html with </a:t>
            </a:r>
            <a:r>
              <a:rPr lang="en" i="1" dirty="0">
                <a:solidFill>
                  <a:srgbClr val="0070C0"/>
                </a:solidFill>
              </a:rPr>
              <a:t>wk2mystyle2.css </a:t>
            </a:r>
            <a:r>
              <a:rPr lang="en" i="1" dirty="0">
                <a:solidFill>
                  <a:schemeClr val="tx1"/>
                </a:solidFill>
              </a:rPr>
              <a:t>applied</a:t>
            </a:r>
            <a:endParaRPr lang="en-SG" dirty="0">
              <a:solidFill>
                <a:srgbClr val="0070C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89DA4B-F0C5-EB7A-6B40-B44E0760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791" y="1741373"/>
            <a:ext cx="1722175" cy="6798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25C30-665E-0797-AC2C-BBF218BF0476}"/>
              </a:ext>
            </a:extLst>
          </p:cNvPr>
          <p:cNvSpPr txBox="1"/>
          <p:nvPr/>
        </p:nvSpPr>
        <p:spPr>
          <a:xfrm>
            <a:off x="5582791" y="1410492"/>
            <a:ext cx="1722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i="1" dirty="0">
                <a:solidFill>
                  <a:srgbClr val="0070C0"/>
                </a:solidFill>
              </a:rPr>
              <a:t>w</a:t>
            </a:r>
            <a:r>
              <a:rPr lang="en" i="1" dirty="0">
                <a:solidFill>
                  <a:srgbClr val="0070C0"/>
                </a:solidFill>
              </a:rPr>
              <a:t>k2mystyle1.css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D0CF2F-0909-6E39-2F69-A15A501F94EF}"/>
              </a:ext>
            </a:extLst>
          </p:cNvPr>
          <p:cNvSpPr txBox="1"/>
          <p:nvPr/>
        </p:nvSpPr>
        <p:spPr>
          <a:xfrm>
            <a:off x="5582791" y="3077525"/>
            <a:ext cx="1722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i="1" dirty="0">
                <a:solidFill>
                  <a:srgbClr val="0070C0"/>
                </a:solidFill>
              </a:rPr>
              <a:t>w</a:t>
            </a:r>
            <a:r>
              <a:rPr lang="en" i="1" dirty="0">
                <a:solidFill>
                  <a:srgbClr val="0070C0"/>
                </a:solidFill>
              </a:rPr>
              <a:t>k2mystyle2.css</a:t>
            </a:r>
            <a:endParaRPr lang="en-S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C35AC6-9FAA-C11E-2E0D-F2491FF50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791" y="3385302"/>
            <a:ext cx="2244665" cy="1178316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75BDD0C-CDBC-B57A-725E-7E4830020844}"/>
              </a:ext>
            </a:extLst>
          </p:cNvPr>
          <p:cNvSpPr/>
          <p:nvPr/>
        </p:nvSpPr>
        <p:spPr>
          <a:xfrm>
            <a:off x="744207" y="1644598"/>
            <a:ext cx="3429000" cy="1116837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3FFE5C6-3FA3-E2A6-D08C-866E14E9B8BE}"/>
              </a:ext>
            </a:extLst>
          </p:cNvPr>
          <p:cNvSpPr/>
          <p:nvPr/>
        </p:nvSpPr>
        <p:spPr>
          <a:xfrm>
            <a:off x="835647" y="166288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CD6FB-F08B-D61E-73AA-B43C4FE66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47" y="1882342"/>
            <a:ext cx="2515557" cy="879093"/>
          </a:xfrm>
          <a:prstGeom prst="rect">
            <a:avLst/>
          </a:prstGeom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60E64197-A487-3E82-59F8-518421931EEE}"/>
              </a:ext>
            </a:extLst>
          </p:cNvPr>
          <p:cNvSpPr/>
          <p:nvPr/>
        </p:nvSpPr>
        <p:spPr>
          <a:xfrm>
            <a:off x="744207" y="3385302"/>
            <a:ext cx="34290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CB187ED-E73E-88E5-8F37-7DE312718B4C}"/>
              </a:ext>
            </a:extLst>
          </p:cNvPr>
          <p:cNvSpPr/>
          <p:nvPr/>
        </p:nvSpPr>
        <p:spPr>
          <a:xfrm>
            <a:off x="835647" y="340359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BF5783-C58C-D944-2FDE-DC40A4D26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07" y="3729193"/>
            <a:ext cx="2831031" cy="766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Using CSS</a:t>
            </a:r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/>
              <a:t>Three ways </a:t>
            </a:r>
            <a:endParaRPr b="1"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i="1" dirty="0">
                <a:solidFill>
                  <a:srgbClr val="0070C0"/>
                </a:solidFill>
              </a:rPr>
              <a:t>Inline style</a:t>
            </a:r>
            <a:r>
              <a:rPr lang="en" dirty="0"/>
              <a:t>: </a:t>
            </a:r>
            <a:r>
              <a:rPr lang="en" dirty="0">
                <a:latin typeface="Arial"/>
                <a:ea typeface="Arial"/>
                <a:cs typeface="Arial"/>
                <a:sym typeface="Arial"/>
              </a:rPr>
              <a:t>CSS code is placed directly into an HTML element within the &lt;body&gt; section of a web page.</a:t>
            </a:r>
            <a:r>
              <a:rPr lang="en" dirty="0"/>
              <a:t>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i="1" dirty="0">
                <a:solidFill>
                  <a:srgbClr val="0070C0"/>
                </a:solidFill>
              </a:rPr>
              <a:t>Internal style sheet</a:t>
            </a:r>
            <a:r>
              <a:rPr lang="en" dirty="0"/>
              <a:t>: </a:t>
            </a:r>
            <a:r>
              <a:rPr lang="en" dirty="0">
                <a:latin typeface="Arial"/>
                <a:ea typeface="Arial"/>
                <a:cs typeface="Arial"/>
                <a:sym typeface="Arial"/>
              </a:rPr>
              <a:t>CSS code is placed into a separate, dedicated area within the &lt;head&gt; section of a Web page.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i="1" dirty="0">
                <a:solidFill>
                  <a:srgbClr val="0070C0"/>
                </a:solidFill>
              </a:rPr>
              <a:t>External style sheet</a:t>
            </a:r>
            <a:r>
              <a:rPr lang="en" dirty="0"/>
              <a:t>: </a:t>
            </a:r>
            <a:r>
              <a:rPr lang="en" dirty="0">
                <a:latin typeface="Arial"/>
                <a:ea typeface="Arial"/>
                <a:cs typeface="Arial"/>
                <a:sym typeface="Arial"/>
              </a:rPr>
              <a:t>CSS code is placed into a separate file and then linked to a web page.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CSS: Inline Style</a:t>
            </a:r>
            <a:endParaRPr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79395A89-CB96-9D21-7FE0-B43B980C6B1B}"/>
              </a:ext>
            </a:extLst>
          </p:cNvPr>
          <p:cNvSpPr/>
          <p:nvPr/>
        </p:nvSpPr>
        <p:spPr>
          <a:xfrm>
            <a:off x="320040" y="1414889"/>
            <a:ext cx="4711554" cy="95946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A5656E4-492B-82C0-11A3-3C202A99C0BE}"/>
              </a:ext>
            </a:extLst>
          </p:cNvPr>
          <p:cNvSpPr/>
          <p:nvPr/>
        </p:nvSpPr>
        <p:spPr>
          <a:xfrm>
            <a:off x="426704" y="1520344"/>
            <a:ext cx="4791456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style="color:red;"&gt;CAUTION: Icy Road Conditions&lt;/h2&gt;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&lt;h2&gt;Please Slow Down!&lt;/h2&gt;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48D832E-AB49-258B-0E55-4D6C61F40D35}"/>
              </a:ext>
            </a:extLst>
          </p:cNvPr>
          <p:cNvSpPr/>
          <p:nvPr/>
        </p:nvSpPr>
        <p:spPr>
          <a:xfrm>
            <a:off x="5440680" y="1143000"/>
            <a:ext cx="34290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4474E420-B705-71F2-6B44-93F1BCE04355}"/>
              </a:ext>
            </a:extLst>
          </p:cNvPr>
          <p:cNvSpPr/>
          <p:nvPr/>
        </p:nvSpPr>
        <p:spPr>
          <a:xfrm>
            <a:off x="5440680" y="1143000"/>
            <a:ext cx="342900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8F68D845-505E-FE45-BE83-106FE9346CA8}"/>
              </a:ext>
            </a:extLst>
          </p:cNvPr>
          <p:cNvSpPr/>
          <p:nvPr/>
        </p:nvSpPr>
        <p:spPr>
          <a:xfrm>
            <a:off x="5532120" y="11612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F290B33-F842-6E2B-D6D4-964E59ACAC1A}"/>
              </a:ext>
            </a:extLst>
          </p:cNvPr>
          <p:cNvSpPr/>
          <p:nvPr/>
        </p:nvSpPr>
        <p:spPr>
          <a:xfrm>
            <a:off x="5532120" y="1463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Icy Road Conditions</a:t>
            </a:r>
            <a:endParaRPr lang="en-US" sz="14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B1C3CEA0-2DBA-20CA-C37B-6E2D18054E7C}"/>
              </a:ext>
            </a:extLst>
          </p:cNvPr>
          <p:cNvSpPr/>
          <p:nvPr/>
        </p:nvSpPr>
        <p:spPr>
          <a:xfrm>
            <a:off x="5532120" y="17922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Slow Down!</a:t>
            </a:r>
            <a:endParaRPr lang="en-US" sz="1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D10FA9-0698-4242-5280-9EDD9FDBF63E}"/>
              </a:ext>
            </a:extLst>
          </p:cNvPr>
          <p:cNvGrpSpPr/>
          <p:nvPr/>
        </p:nvGrpSpPr>
        <p:grpSpPr>
          <a:xfrm>
            <a:off x="5440680" y="3531762"/>
            <a:ext cx="3429000" cy="711652"/>
            <a:chOff x="4203499" y="3260647"/>
            <a:chExt cx="4297680" cy="1005840"/>
          </a:xfrm>
        </p:grpSpPr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2CF0C5AF-7C85-2E99-9F30-E330F237F9BF}"/>
                </a:ext>
              </a:extLst>
            </p:cNvPr>
            <p:cNvSpPr/>
            <p:nvPr/>
          </p:nvSpPr>
          <p:spPr>
            <a:xfrm>
              <a:off x="4203499" y="3260647"/>
              <a:ext cx="4297680" cy="1005840"/>
            </a:xfrm>
            <a:prstGeom prst="rect">
              <a:avLst/>
            </a:prstGeom>
            <a:solidFill>
              <a:srgbClr val="FEF2F2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5" name="Text 17">
              <a:extLst>
                <a:ext uri="{FF2B5EF4-FFF2-40B4-BE49-F238E27FC236}">
                  <a16:creationId xmlns:a16="http://schemas.microsoft.com/office/drawing/2014/main" id="{9D92F0AA-C2B2-9B4C-52F4-1F759D8F1011}"/>
                </a:ext>
              </a:extLst>
            </p:cNvPr>
            <p:cNvSpPr/>
            <p:nvPr/>
          </p:nvSpPr>
          <p:spPr>
            <a:xfrm>
              <a:off x="4301574" y="3345576"/>
              <a:ext cx="4023361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✗  Cons</a:t>
              </a:r>
              <a:endParaRPr lang="en-US" sz="1100" dirty="0"/>
            </a:p>
          </p:txBody>
        </p:sp>
        <p:sp>
          <p:nvSpPr>
            <p:cNvPr id="16" name="Text 18">
              <a:extLst>
                <a:ext uri="{FF2B5EF4-FFF2-40B4-BE49-F238E27FC236}">
                  <a16:creationId xmlns:a16="http://schemas.microsoft.com/office/drawing/2014/main" id="{B6D84643-34EA-BB45-B096-25DB8AEC5140}"/>
                </a:ext>
              </a:extLst>
            </p:cNvPr>
            <p:cNvSpPr/>
            <p:nvPr/>
          </p:nvSpPr>
          <p:spPr>
            <a:xfrm>
              <a:off x="4301574" y="3601609"/>
              <a:ext cx="4023361" cy="64008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affects one tag — hard to maintain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Mixes content and presentation</a:t>
              </a:r>
              <a:endParaRPr lang="en-US" sz="1000" dirty="0"/>
            </a:p>
          </p:txBody>
        </p:sp>
      </p:grpSp>
      <p:sp>
        <p:nvSpPr>
          <p:cNvPr id="17" name="Shape 19">
            <a:extLst>
              <a:ext uri="{FF2B5EF4-FFF2-40B4-BE49-F238E27FC236}">
                <a16:creationId xmlns:a16="http://schemas.microsoft.com/office/drawing/2014/main" id="{057DCCDD-1F80-037F-5D1F-2FE6CBD9D46D}"/>
              </a:ext>
            </a:extLst>
          </p:cNvPr>
          <p:cNvSpPr/>
          <p:nvPr/>
        </p:nvSpPr>
        <p:spPr>
          <a:xfrm>
            <a:off x="320040" y="4393692"/>
            <a:ext cx="85496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F8A834BF-0404-9C03-379C-C9FB6A9566E2}"/>
              </a:ext>
            </a:extLst>
          </p:cNvPr>
          <p:cNvSpPr/>
          <p:nvPr/>
        </p:nvSpPr>
        <p:spPr>
          <a:xfrm>
            <a:off x="480060" y="446227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sparingly — inline style overrides everything else (highest priority).</a:t>
            </a:r>
            <a:endParaRPr lang="en-US" sz="11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AFD53CA-8196-A993-84DF-84291D61B372}"/>
              </a:ext>
            </a:extLst>
          </p:cNvPr>
          <p:cNvGrpSpPr/>
          <p:nvPr/>
        </p:nvGrpSpPr>
        <p:grpSpPr>
          <a:xfrm>
            <a:off x="5440680" y="2673485"/>
            <a:ext cx="3429000" cy="711652"/>
            <a:chOff x="320040" y="2788920"/>
            <a:chExt cx="4114800" cy="1005840"/>
          </a:xfrm>
        </p:grpSpPr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F5F93163-C201-3CEF-7F46-1F61EE0C49B4}"/>
                </a:ext>
              </a:extLst>
            </p:cNvPr>
            <p:cNvSpPr/>
            <p:nvPr/>
          </p:nvSpPr>
          <p:spPr>
            <a:xfrm>
              <a:off x="320040" y="2788920"/>
              <a:ext cx="4114800" cy="1005840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54F1EAC0-141E-BC8A-E5BC-C2A3A7A16E8F}"/>
                </a:ext>
              </a:extLst>
            </p:cNvPr>
            <p:cNvSpPr/>
            <p:nvPr/>
          </p:nvSpPr>
          <p:spPr>
            <a:xfrm>
              <a:off x="457200" y="2834640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Pros</a:t>
              </a:r>
              <a:endParaRPr lang="en-US" sz="1100" dirty="0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CC64BD0A-A6BB-64C7-1C4E-D59D5CE7D798}"/>
                </a:ext>
              </a:extLst>
            </p:cNvPr>
            <p:cNvSpPr/>
            <p:nvPr/>
          </p:nvSpPr>
          <p:spPr>
            <a:xfrm>
              <a:off x="457200" y="3090672"/>
              <a:ext cx="38404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Quick for one-off overrides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extra files needed</a:t>
              </a:r>
              <a:endParaRPr lang="en-US" sz="1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106B0D1-B3C6-5D4B-33F6-23AE8F49894F}"/>
              </a:ext>
            </a:extLst>
          </p:cNvPr>
          <p:cNvSpPr txBox="1"/>
          <p:nvPr/>
        </p:nvSpPr>
        <p:spPr>
          <a:xfrm>
            <a:off x="320040" y="2683619"/>
            <a:ext cx="4711554" cy="147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CSS code is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rgbClr val="0070C0"/>
                </a:solidFill>
              </a:rPr>
              <a:t>- </a:t>
            </a:r>
            <a:r>
              <a:rPr lang="en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placed directly into an HTML element</a:t>
            </a: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the style attribute to an HTML element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with the CSS declaration as the attribute value</a:t>
            </a:r>
            <a:endParaRPr lang="en-S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4C2FCE-7B23-725C-9FAC-76F4B7AEBB0C}"/>
              </a:ext>
            </a:extLst>
          </p:cNvPr>
          <p:cNvSpPr txBox="1"/>
          <p:nvPr/>
        </p:nvSpPr>
        <p:spPr>
          <a:xfrm>
            <a:off x="320040" y="1058023"/>
            <a:ext cx="4937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wk2example2.html</a:t>
            </a:r>
            <a:endParaRPr lang="en-SG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CSS: Internal Style Sheet</a:t>
            </a:r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00E5D84-D836-AC08-94EC-865D76599416}"/>
              </a:ext>
            </a:extLst>
          </p:cNvPr>
          <p:cNvSpPr/>
          <p:nvPr/>
        </p:nvSpPr>
        <p:spPr>
          <a:xfrm>
            <a:off x="391852" y="1457115"/>
            <a:ext cx="4937760" cy="14967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33A10D1-E3E4-FA18-2A63-E39AF7F7E340}"/>
              </a:ext>
            </a:extLst>
          </p:cNvPr>
          <p:cNvSpPr/>
          <p:nvPr/>
        </p:nvSpPr>
        <p:spPr>
          <a:xfrm>
            <a:off x="465004" y="1457115"/>
            <a:ext cx="4791456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h2 { color: green;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&lt;h2&gt;CAUTION: Icy Road Conditions&lt;/h2&gt;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&lt;h2&gt;Please Slow Down!&lt;/h2&gt;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C67AD-5844-DE5C-CDE2-DD27F8FFFC98}"/>
              </a:ext>
            </a:extLst>
          </p:cNvPr>
          <p:cNvSpPr txBox="1"/>
          <p:nvPr/>
        </p:nvSpPr>
        <p:spPr>
          <a:xfrm>
            <a:off x="347089" y="11062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wk2example3.html</a:t>
            </a:r>
            <a:endParaRPr lang="en-SG" i="1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CE5185-76C5-E292-E98B-81C31B6F2538}"/>
              </a:ext>
            </a:extLst>
          </p:cNvPr>
          <p:cNvGrpSpPr/>
          <p:nvPr/>
        </p:nvGrpSpPr>
        <p:grpSpPr>
          <a:xfrm>
            <a:off x="5469405" y="1457114"/>
            <a:ext cx="3429000" cy="1496731"/>
            <a:chOff x="5440680" y="1143000"/>
            <a:chExt cx="3429000" cy="1365616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52010B50-C9DA-BFAD-BDC0-A902FE282A1B}"/>
                </a:ext>
              </a:extLst>
            </p:cNvPr>
            <p:cNvSpPr/>
            <p:nvPr/>
          </p:nvSpPr>
          <p:spPr>
            <a:xfrm>
              <a:off x="5440680" y="1143000"/>
              <a:ext cx="3429000" cy="136561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A99A27B3-A230-2A96-BF82-0C48BCDC4BC1}"/>
                </a:ext>
              </a:extLst>
            </p:cNvPr>
            <p:cNvSpPr/>
            <p:nvPr/>
          </p:nvSpPr>
          <p:spPr>
            <a:xfrm>
              <a:off x="5440680" y="1143000"/>
              <a:ext cx="3429000" cy="25603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9A5C2798-0E79-D46D-D7AD-C461AF46EC32}"/>
                </a:ext>
              </a:extLst>
            </p:cNvPr>
            <p:cNvSpPr/>
            <p:nvPr/>
          </p:nvSpPr>
          <p:spPr>
            <a:xfrm>
              <a:off x="5532120" y="1161288"/>
              <a:ext cx="32461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C5F5B138-D700-2821-507E-C46C83E2CD45}"/>
                </a:ext>
              </a:extLst>
            </p:cNvPr>
            <p:cNvSpPr/>
            <p:nvPr/>
          </p:nvSpPr>
          <p:spPr>
            <a:xfrm>
              <a:off x="5532120" y="1463040"/>
              <a:ext cx="3246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CAUTION: Icy Road Conditions</a:t>
              </a:r>
              <a:endParaRPr lang="en-US" sz="14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A63DBF0A-AB0C-1283-5A8D-843762C504CB}"/>
                </a:ext>
              </a:extLst>
            </p:cNvPr>
            <p:cNvSpPr/>
            <p:nvPr/>
          </p:nvSpPr>
          <p:spPr>
            <a:xfrm>
              <a:off x="5532120" y="1792224"/>
              <a:ext cx="3246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Please Slow Down!</a:t>
              </a:r>
              <a:endParaRPr lang="en-US" sz="1400" dirty="0"/>
            </a:p>
          </p:txBody>
        </p:sp>
      </p:grpSp>
      <p:sp>
        <p:nvSpPr>
          <p:cNvPr id="17" name="Shape 19">
            <a:extLst>
              <a:ext uri="{FF2B5EF4-FFF2-40B4-BE49-F238E27FC236}">
                <a16:creationId xmlns:a16="http://schemas.microsoft.com/office/drawing/2014/main" id="{B51E2ED7-44BE-5042-E6BF-5715FF16C73B}"/>
              </a:ext>
            </a:extLst>
          </p:cNvPr>
          <p:cNvSpPr/>
          <p:nvPr/>
        </p:nvSpPr>
        <p:spPr>
          <a:xfrm>
            <a:off x="391851" y="4232964"/>
            <a:ext cx="8506553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D5CEB4-BB7F-111D-A8D5-AF6A3B3A0871}"/>
              </a:ext>
            </a:extLst>
          </p:cNvPr>
          <p:cNvSpPr txBox="1"/>
          <p:nvPr/>
        </p:nvSpPr>
        <p:spPr>
          <a:xfrm>
            <a:off x="391852" y="3162963"/>
            <a:ext cx="4937760" cy="129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  <a:buSzPts val="1400"/>
            </a:pPr>
            <a:r>
              <a:rPr lang="en-US" dirty="0"/>
              <a:t>To use an internal CSS style sheet, we add a &lt;style&gt; section within the &lt;head&gt; of the page.  </a:t>
            </a:r>
            <a:br>
              <a:rPr lang="en-US" dirty="0"/>
            </a:br>
            <a:r>
              <a:rPr lang="en-US" dirty="0"/>
              <a:t>All our CSS declarations go within this section.</a:t>
            </a:r>
            <a:endParaRPr lang="en-US" sz="2000" dirty="0"/>
          </a:p>
          <a:p>
            <a:pPr lvl="0">
              <a:lnSpc>
                <a:spcPct val="115000"/>
              </a:lnSpc>
              <a:buSzPts val="1400"/>
            </a:pPr>
            <a:endParaRPr lang="en-US" dirty="0"/>
          </a:p>
          <a:p>
            <a:endParaRPr lang="en-SG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8372AED-080E-007D-5BB0-5B02EBA3211B}"/>
              </a:ext>
            </a:extLst>
          </p:cNvPr>
          <p:cNvSpPr/>
          <p:nvPr/>
        </p:nvSpPr>
        <p:spPr>
          <a:xfrm>
            <a:off x="465004" y="43244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&lt;style&gt; block inside &lt;head&gt; — rules apply to all matching elements on that page.</a:t>
            </a:r>
            <a:endParaRPr lang="en-US" sz="1200" dirty="0">
              <a:solidFill>
                <a:srgbClr val="0070C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F4A74E-30E7-1F54-D550-30281AC3A4DA}"/>
              </a:ext>
            </a:extLst>
          </p:cNvPr>
          <p:cNvGrpSpPr/>
          <p:nvPr/>
        </p:nvGrpSpPr>
        <p:grpSpPr>
          <a:xfrm>
            <a:off x="5469405" y="3177573"/>
            <a:ext cx="3429000" cy="711652"/>
            <a:chOff x="320040" y="2788920"/>
            <a:chExt cx="4114800" cy="1005840"/>
          </a:xfrm>
        </p:grpSpPr>
        <p:sp>
          <p:nvSpPr>
            <p:cNvPr id="22" name="Shape 13">
              <a:extLst>
                <a:ext uri="{FF2B5EF4-FFF2-40B4-BE49-F238E27FC236}">
                  <a16:creationId xmlns:a16="http://schemas.microsoft.com/office/drawing/2014/main" id="{30496F93-B78B-B8C6-1044-E3BEF58E970A}"/>
                </a:ext>
              </a:extLst>
            </p:cNvPr>
            <p:cNvSpPr/>
            <p:nvPr/>
          </p:nvSpPr>
          <p:spPr>
            <a:xfrm>
              <a:off x="320040" y="2788920"/>
              <a:ext cx="4114800" cy="1005840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3D42077A-5B66-8D4E-10EE-55EF35F03759}"/>
                </a:ext>
              </a:extLst>
            </p:cNvPr>
            <p:cNvSpPr/>
            <p:nvPr/>
          </p:nvSpPr>
          <p:spPr>
            <a:xfrm>
              <a:off x="457200" y="2834640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✔  Pros</a:t>
              </a:r>
              <a:endParaRPr lang="en-US" sz="1100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73761599-BE62-0543-342D-CEA77FBC2DFA}"/>
                </a:ext>
              </a:extLst>
            </p:cNvPr>
            <p:cNvSpPr/>
            <p:nvPr/>
          </p:nvSpPr>
          <p:spPr>
            <a:xfrm>
              <a:off x="457200" y="3090672"/>
              <a:ext cx="38404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Good for single-page project or unique per-page styles.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CSS: External Style Sheet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C19F4-971F-723B-4B28-24F41D73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61" y="2507120"/>
            <a:ext cx="1944618" cy="1159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D414B9-C28E-28E5-CFFD-41ACE85BD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61" y="1486549"/>
            <a:ext cx="2606907" cy="615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63BD89-50B6-2C80-9570-9CE20F281710}"/>
              </a:ext>
            </a:extLst>
          </p:cNvPr>
          <p:cNvSpPr txBox="1"/>
          <p:nvPr/>
        </p:nvSpPr>
        <p:spPr>
          <a:xfrm>
            <a:off x="366239" y="11253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wk2ex4pg1.html</a:t>
            </a:r>
            <a:endParaRPr lang="en-SG" i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E48DE-12BC-C8C0-C816-301F94EED867}"/>
              </a:ext>
            </a:extLst>
          </p:cNvPr>
          <p:cNvSpPr txBox="1"/>
          <p:nvPr/>
        </p:nvSpPr>
        <p:spPr>
          <a:xfrm>
            <a:off x="366239" y="2198348"/>
            <a:ext cx="2019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wk2ex4.css</a:t>
            </a:r>
            <a:endParaRPr lang="en-SG" i="1" dirty="0">
              <a:solidFill>
                <a:schemeClr val="tx1"/>
              </a:solidFill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8979457E-F4E8-427D-2652-30304B7F115E}"/>
              </a:ext>
            </a:extLst>
          </p:cNvPr>
          <p:cNvSpPr/>
          <p:nvPr/>
        </p:nvSpPr>
        <p:spPr>
          <a:xfrm>
            <a:off x="5577360" y="1719034"/>
            <a:ext cx="968939" cy="615593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F73C7A6-8591-BB90-86CF-8F1E651B5280}"/>
              </a:ext>
            </a:extLst>
          </p:cNvPr>
          <p:cNvSpPr/>
          <p:nvPr/>
        </p:nvSpPr>
        <p:spPr>
          <a:xfrm>
            <a:off x="5577361" y="2541995"/>
            <a:ext cx="96893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8DF8711D-1880-61F1-DA03-1BD4D0818AB5}"/>
              </a:ext>
            </a:extLst>
          </p:cNvPr>
          <p:cNvSpPr/>
          <p:nvPr/>
        </p:nvSpPr>
        <p:spPr>
          <a:xfrm flipV="1">
            <a:off x="5577361" y="2749364"/>
            <a:ext cx="968938" cy="615591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1AF6185-265D-9264-C630-E73D4547C829}"/>
              </a:ext>
            </a:extLst>
          </p:cNvPr>
          <p:cNvSpPr/>
          <p:nvPr/>
        </p:nvSpPr>
        <p:spPr>
          <a:xfrm>
            <a:off x="6546299" y="2214911"/>
            <a:ext cx="1769474" cy="691525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4DF3041-B5FF-03F5-0B7C-BA7D25FCB926}"/>
              </a:ext>
            </a:extLst>
          </p:cNvPr>
          <p:cNvSpPr/>
          <p:nvPr/>
        </p:nvSpPr>
        <p:spPr>
          <a:xfrm>
            <a:off x="6701210" y="2305885"/>
            <a:ext cx="1459651" cy="47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mystyle.css</a:t>
            </a:r>
            <a:endParaRPr lang="en-US" sz="1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2304D6-8B55-3116-BD2B-3A18E7147768}"/>
              </a:ext>
            </a:extLst>
          </p:cNvPr>
          <p:cNvGrpSpPr/>
          <p:nvPr/>
        </p:nvGrpSpPr>
        <p:grpSpPr>
          <a:xfrm>
            <a:off x="3565681" y="2249387"/>
            <a:ext cx="2011680" cy="602738"/>
            <a:chOff x="3565681" y="2249387"/>
            <a:chExt cx="2011680" cy="602738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CC8353F9-31E3-868E-4631-E04E3D159B2F}"/>
                </a:ext>
              </a:extLst>
            </p:cNvPr>
            <p:cNvSpPr/>
            <p:nvPr/>
          </p:nvSpPr>
          <p:spPr>
            <a:xfrm>
              <a:off x="3565681" y="2249387"/>
              <a:ext cx="2011680" cy="59436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149379CB-0E3E-7ED8-4FD2-BEA974C63977}"/>
                </a:ext>
              </a:extLst>
            </p:cNvPr>
            <p:cNvSpPr/>
            <p:nvPr/>
          </p:nvSpPr>
          <p:spPr>
            <a:xfrm>
              <a:off x="3565681" y="2257765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wk2ex4pg2.html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7C8B97-3E3F-4396-E198-DB209EA702FA}"/>
              </a:ext>
            </a:extLst>
          </p:cNvPr>
          <p:cNvGrpSpPr/>
          <p:nvPr/>
        </p:nvGrpSpPr>
        <p:grpSpPr>
          <a:xfrm>
            <a:off x="3565681" y="1386946"/>
            <a:ext cx="2011680" cy="602738"/>
            <a:chOff x="3565681" y="2249387"/>
            <a:chExt cx="2011680" cy="602738"/>
          </a:xfrm>
        </p:grpSpPr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5B74297F-C0F2-44A2-0715-B377D6EBDDA5}"/>
                </a:ext>
              </a:extLst>
            </p:cNvPr>
            <p:cNvSpPr/>
            <p:nvPr/>
          </p:nvSpPr>
          <p:spPr>
            <a:xfrm>
              <a:off x="3565681" y="2249387"/>
              <a:ext cx="2011680" cy="59436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FC88DE51-94AF-BFC8-18C3-70F2A2626026}"/>
                </a:ext>
              </a:extLst>
            </p:cNvPr>
            <p:cNvSpPr/>
            <p:nvPr/>
          </p:nvSpPr>
          <p:spPr>
            <a:xfrm>
              <a:off x="3565681" y="2257765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wk2ex4pg1.html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F98262-FD30-C087-3780-07ABD0133728}"/>
              </a:ext>
            </a:extLst>
          </p:cNvPr>
          <p:cNvGrpSpPr/>
          <p:nvPr/>
        </p:nvGrpSpPr>
        <p:grpSpPr>
          <a:xfrm>
            <a:off x="3565681" y="3066523"/>
            <a:ext cx="2011680" cy="602738"/>
            <a:chOff x="3565681" y="2249387"/>
            <a:chExt cx="2011680" cy="602738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39254928-E436-2EEB-FF17-E47562E3FBB1}"/>
                </a:ext>
              </a:extLst>
            </p:cNvPr>
            <p:cNvSpPr/>
            <p:nvPr/>
          </p:nvSpPr>
          <p:spPr>
            <a:xfrm>
              <a:off x="3565681" y="2249387"/>
              <a:ext cx="2011680" cy="59436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255F8F94-4836-FAE2-0D72-6C0A80978DE8}"/>
                </a:ext>
              </a:extLst>
            </p:cNvPr>
            <p:cNvSpPr/>
            <p:nvPr/>
          </p:nvSpPr>
          <p:spPr>
            <a:xfrm>
              <a:off x="3565681" y="2257765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wk2ex4pg3.html</a:t>
              </a:r>
              <a:endParaRPr lang="en-US" sz="1200" dirty="0"/>
            </a:p>
          </p:txBody>
        </p:sp>
      </p:grpSp>
      <p:sp>
        <p:nvSpPr>
          <p:cNvPr id="28" name="Shape 17">
            <a:extLst>
              <a:ext uri="{FF2B5EF4-FFF2-40B4-BE49-F238E27FC236}">
                <a16:creationId xmlns:a16="http://schemas.microsoft.com/office/drawing/2014/main" id="{CA36631E-39AF-7CE9-D0B5-6CC60938E8D6}"/>
              </a:ext>
            </a:extLst>
          </p:cNvPr>
          <p:cNvSpPr/>
          <p:nvPr/>
        </p:nvSpPr>
        <p:spPr>
          <a:xfrm>
            <a:off x="3565681" y="3794426"/>
            <a:ext cx="4750093" cy="541399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959F68C1-A0B8-6CE2-3150-BB79FEB1D8E7}"/>
              </a:ext>
            </a:extLst>
          </p:cNvPr>
          <p:cNvSpPr/>
          <p:nvPr/>
        </p:nvSpPr>
        <p:spPr>
          <a:xfrm>
            <a:off x="3604122" y="4194091"/>
            <a:ext cx="3946475" cy="182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Practice: One CSS file controls the look of your entire site.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1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5AE0BFD4-664F-961C-5F38-29BA65F753A1}"/>
              </a:ext>
            </a:extLst>
          </p:cNvPr>
          <p:cNvSpPr/>
          <p:nvPr/>
        </p:nvSpPr>
        <p:spPr>
          <a:xfrm>
            <a:off x="366240" y="4390137"/>
            <a:ext cx="7949534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115AE4F4-9BF6-D923-B973-167691945026}"/>
              </a:ext>
            </a:extLst>
          </p:cNvPr>
          <p:cNvSpPr/>
          <p:nvPr/>
        </p:nvSpPr>
        <p:spPr>
          <a:xfrm>
            <a:off x="439392" y="4481577"/>
            <a:ext cx="79991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declared in external style sheet will affect all matching elements on all web pages linked to that style sheet.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CF18BB-2108-5FF3-B150-0E3277C109EE}"/>
              </a:ext>
            </a:extLst>
          </p:cNvPr>
          <p:cNvSpPr txBox="1"/>
          <p:nvPr/>
        </p:nvSpPr>
        <p:spPr>
          <a:xfrm>
            <a:off x="3595197" y="3810455"/>
            <a:ext cx="8437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Using CSS</a:t>
            </a:r>
            <a:endParaRPr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4F27F68E-0C8D-D2BA-0D1F-F8E6C7FD4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88623"/>
              </p:ext>
            </p:extLst>
          </p:nvPr>
        </p:nvGraphicFramePr>
        <p:xfrm>
          <a:off x="330534" y="1387602"/>
          <a:ext cx="8549640" cy="2368296"/>
        </p:xfrm>
        <a:graphic>
          <a:graphicData uri="http://schemas.openxmlformats.org/drawingml/2006/table">
            <a:tbl>
              <a:tblPr/>
              <a:tblGrid>
                <a:gridCol w="213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Content?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tag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one-off fixes, use sparingly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Single-page or small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linked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Multi-page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64942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 Syntax</a:t>
            </a:r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2672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The syntax of CSS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002060"/>
                </a:solidFill>
              </a:rPr>
              <a:t>selector { property: value; } </a:t>
            </a:r>
            <a:endParaRPr b="1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semicolon must be placed after each CSS declaration.  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00000"/>
                </a:solidFill>
              </a:rPr>
              <a:t>Omitting this semicolon </a:t>
            </a:r>
            <a:r>
              <a:rPr lang="en"/>
              <a:t>is the single most common mistake made by those learning CSS.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D542913D-F68F-CA39-60BF-4D536FCE5D94}"/>
              </a:ext>
            </a:extLst>
          </p:cNvPr>
          <p:cNvSpPr/>
          <p:nvPr/>
        </p:nvSpPr>
        <p:spPr>
          <a:xfrm>
            <a:off x="4572000" y="1245870"/>
            <a:ext cx="3959208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7626A0CF-81A6-A8FC-D04A-96834FFF1280}"/>
              </a:ext>
            </a:extLst>
          </p:cNvPr>
          <p:cNvSpPr/>
          <p:nvPr/>
        </p:nvSpPr>
        <p:spPr>
          <a:xfrm>
            <a:off x="4589484" y="1319022"/>
            <a:ext cx="4242816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Single property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red;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font-style: italic;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Multiple properties - same selector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italic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Group selectors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 { color: blue; }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801DCF-1B8D-DF6D-24C1-B301267B2085}"/>
              </a:ext>
            </a:extLst>
          </p:cNvPr>
          <p:cNvGrpSpPr/>
          <p:nvPr/>
        </p:nvGrpSpPr>
        <p:grpSpPr>
          <a:xfrm>
            <a:off x="366240" y="4390137"/>
            <a:ext cx="8164968" cy="502920"/>
            <a:chOff x="366240" y="4390137"/>
            <a:chExt cx="8164968" cy="502920"/>
          </a:xfrm>
        </p:grpSpPr>
        <p:sp>
          <p:nvSpPr>
            <p:cNvPr id="6" name="Shape 19">
              <a:extLst>
                <a:ext uri="{FF2B5EF4-FFF2-40B4-BE49-F238E27FC236}">
                  <a16:creationId xmlns:a16="http://schemas.microsoft.com/office/drawing/2014/main" id="{BF069D4B-1A8D-1C80-8BDA-7083CC6F0CE2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8406E319-5B84-F35C-3CF3-F4D6DEB5B8B0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</a:t>
              </a:r>
              <a:r>
                <a:rPr lang="en-US" sz="1200" dirty="0">
                  <a:solidFill>
                    <a:srgbClr val="0070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 can have as many properties as we want to style within a single selector.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Exercise 1</a:t>
            </a: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Given ex1-Page1.html, build ex1-Page2.html and ex1-Page3.html such that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have the same appearance as ex1-Page1.html.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ex1-Page2.html uses </a:t>
            </a:r>
            <a:r>
              <a:rPr lang="en" dirty="0">
                <a:solidFill>
                  <a:srgbClr val="0070C0"/>
                </a:solidFill>
              </a:rPr>
              <a:t>inline style sheet</a:t>
            </a:r>
            <a:r>
              <a:rPr lang="en"/>
              <a:t>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ex1-Page3.html uses </a:t>
            </a:r>
            <a:r>
              <a:rPr lang="en" dirty="0">
                <a:solidFill>
                  <a:srgbClr val="0070C0"/>
                </a:solidFill>
              </a:rPr>
              <a:t>external style sheet </a:t>
            </a:r>
            <a:r>
              <a:rPr lang="en"/>
              <a:t>only. </a:t>
            </a:r>
            <a:endParaRPr/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9550" y="1147225"/>
            <a:ext cx="3828794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 Syntax: Selector</a:t>
            </a:r>
            <a:r>
              <a:rPr lang="en" dirty="0"/>
              <a:t> types</a:t>
            </a:r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C39070-9EFB-D468-2CD0-D57D3C2CADF0}"/>
              </a:ext>
            </a:extLst>
          </p:cNvPr>
          <p:cNvGrpSpPr/>
          <p:nvPr/>
        </p:nvGrpSpPr>
        <p:grpSpPr>
          <a:xfrm>
            <a:off x="526618" y="2435812"/>
            <a:ext cx="3454613" cy="1162485"/>
            <a:chOff x="437571" y="1484966"/>
            <a:chExt cx="3840480" cy="1252728"/>
          </a:xfrm>
        </p:grpSpPr>
        <p:sp>
          <p:nvSpPr>
            <p:cNvPr id="2" name="Shape 22">
              <a:extLst>
                <a:ext uri="{FF2B5EF4-FFF2-40B4-BE49-F238E27FC236}">
                  <a16:creationId xmlns:a16="http://schemas.microsoft.com/office/drawing/2014/main" id="{382A76AA-AA68-0FAA-C8EE-2B6075F4E076}"/>
                </a:ext>
              </a:extLst>
            </p:cNvPr>
            <p:cNvSpPr/>
            <p:nvPr/>
          </p:nvSpPr>
          <p:spPr>
            <a:xfrm>
              <a:off x="437571" y="1484966"/>
              <a:ext cx="182880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" name="Text 23">
              <a:extLst>
                <a:ext uri="{FF2B5EF4-FFF2-40B4-BE49-F238E27FC236}">
                  <a16:creationId xmlns:a16="http://schemas.microsoft.com/office/drawing/2014/main" id="{C94EE5CF-71C2-4722-F6E2-33CC86A0582E}"/>
                </a:ext>
              </a:extLst>
            </p:cNvPr>
            <p:cNvSpPr/>
            <p:nvPr/>
          </p:nvSpPr>
          <p:spPr>
            <a:xfrm>
              <a:off x="437571" y="152154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 </a:t>
              </a:r>
              <a:endParaRPr lang="en-US" sz="1300" dirty="0"/>
            </a:p>
          </p:txBody>
        </p:sp>
        <p:sp>
          <p:nvSpPr>
            <p:cNvPr id="4" name="Text 24">
              <a:extLst>
                <a:ext uri="{FF2B5EF4-FFF2-40B4-BE49-F238E27FC236}">
                  <a16:creationId xmlns:a16="http://schemas.microsoft.com/office/drawing/2014/main" id="{ED5A9928-5792-E8AD-E4A6-27C9F2FAE805}"/>
                </a:ext>
              </a:extLst>
            </p:cNvPr>
            <p:cNvSpPr/>
            <p:nvPr/>
          </p:nvSpPr>
          <p:spPr>
            <a:xfrm>
              <a:off x="437571" y="178671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Element Selector</a:t>
              </a:r>
              <a:endParaRPr lang="en-US" sz="850" dirty="0"/>
            </a:p>
          </p:txBody>
        </p:sp>
        <p:sp>
          <p:nvSpPr>
            <p:cNvPr id="5" name="Shape 25">
              <a:extLst>
                <a:ext uri="{FF2B5EF4-FFF2-40B4-BE49-F238E27FC236}">
                  <a16:creationId xmlns:a16="http://schemas.microsoft.com/office/drawing/2014/main" id="{138F8B81-7A6F-99C6-B971-A507A686C3E7}"/>
                </a:ext>
              </a:extLst>
            </p:cNvPr>
            <p:cNvSpPr/>
            <p:nvPr/>
          </p:nvSpPr>
          <p:spPr>
            <a:xfrm>
              <a:off x="2449251" y="1484966"/>
              <a:ext cx="182880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 26">
              <a:extLst>
                <a:ext uri="{FF2B5EF4-FFF2-40B4-BE49-F238E27FC236}">
                  <a16:creationId xmlns:a16="http://schemas.microsoft.com/office/drawing/2014/main" id="{84054AF7-3913-6F83-5EBD-5E80C2EAE17D}"/>
                </a:ext>
              </a:extLst>
            </p:cNvPr>
            <p:cNvSpPr/>
            <p:nvPr/>
          </p:nvSpPr>
          <p:spPr>
            <a:xfrm>
              <a:off x="2449251" y="152154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#id</a:t>
              </a:r>
              <a:endParaRPr lang="en-US" sz="1300" dirty="0"/>
            </a:p>
          </p:txBody>
        </p:sp>
        <p:sp>
          <p:nvSpPr>
            <p:cNvPr id="7" name="Text 27">
              <a:extLst>
                <a:ext uri="{FF2B5EF4-FFF2-40B4-BE49-F238E27FC236}">
                  <a16:creationId xmlns:a16="http://schemas.microsoft.com/office/drawing/2014/main" id="{E2E9CAC5-C91A-2F36-D1B5-7E5C926D0B0E}"/>
                </a:ext>
              </a:extLst>
            </p:cNvPr>
            <p:cNvSpPr/>
            <p:nvPr/>
          </p:nvSpPr>
          <p:spPr>
            <a:xfrm>
              <a:off x="2449251" y="178671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 Selector</a:t>
              </a:r>
              <a:endParaRPr lang="en-US" sz="850" dirty="0"/>
            </a:p>
          </p:txBody>
        </p:sp>
        <p:sp>
          <p:nvSpPr>
            <p:cNvPr id="8" name="Shape 28">
              <a:extLst>
                <a:ext uri="{FF2B5EF4-FFF2-40B4-BE49-F238E27FC236}">
                  <a16:creationId xmlns:a16="http://schemas.microsoft.com/office/drawing/2014/main" id="{83F300D0-DD7F-05F1-ABFA-C4A5B4CEE3E2}"/>
                </a:ext>
              </a:extLst>
            </p:cNvPr>
            <p:cNvSpPr/>
            <p:nvPr/>
          </p:nvSpPr>
          <p:spPr>
            <a:xfrm>
              <a:off x="437571" y="2170766"/>
              <a:ext cx="182880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9" name="Text 29">
              <a:extLst>
                <a:ext uri="{FF2B5EF4-FFF2-40B4-BE49-F238E27FC236}">
                  <a16:creationId xmlns:a16="http://schemas.microsoft.com/office/drawing/2014/main" id="{BFD45340-C38D-B005-5C3F-AA3E1C414403}"/>
                </a:ext>
              </a:extLst>
            </p:cNvPr>
            <p:cNvSpPr/>
            <p:nvPr/>
          </p:nvSpPr>
          <p:spPr>
            <a:xfrm>
              <a:off x="437571" y="220734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.cls</a:t>
              </a:r>
              <a:endParaRPr lang="en-US" sz="1300" dirty="0"/>
            </a:p>
          </p:txBody>
        </p:sp>
        <p:sp>
          <p:nvSpPr>
            <p:cNvPr id="10" name="Text 30">
              <a:extLst>
                <a:ext uri="{FF2B5EF4-FFF2-40B4-BE49-F238E27FC236}">
                  <a16:creationId xmlns:a16="http://schemas.microsoft.com/office/drawing/2014/main" id="{1E4CC16A-71FD-C941-33B7-D68266456430}"/>
                </a:ext>
              </a:extLst>
            </p:cNvPr>
            <p:cNvSpPr/>
            <p:nvPr/>
          </p:nvSpPr>
          <p:spPr>
            <a:xfrm>
              <a:off x="437571" y="247251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 Selector</a:t>
              </a:r>
              <a:endParaRPr lang="en-US" sz="850" dirty="0"/>
            </a:p>
          </p:txBody>
        </p:sp>
        <p:sp>
          <p:nvSpPr>
            <p:cNvPr id="11" name="Shape 31">
              <a:extLst>
                <a:ext uri="{FF2B5EF4-FFF2-40B4-BE49-F238E27FC236}">
                  <a16:creationId xmlns:a16="http://schemas.microsoft.com/office/drawing/2014/main" id="{3AF361A4-5493-155C-0A2C-2D48F33C1182}"/>
                </a:ext>
              </a:extLst>
            </p:cNvPr>
            <p:cNvSpPr/>
            <p:nvPr/>
          </p:nvSpPr>
          <p:spPr>
            <a:xfrm>
              <a:off x="2449251" y="2170766"/>
              <a:ext cx="1828800" cy="566928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r>
                <a:rPr lang="en-US" dirty="0"/>
                <a:t>	</a:t>
              </a:r>
              <a:endParaRPr lang="en-SG" dirty="0"/>
            </a:p>
          </p:txBody>
        </p:sp>
        <p:sp>
          <p:nvSpPr>
            <p:cNvPr id="12" name="Text 33">
              <a:extLst>
                <a:ext uri="{FF2B5EF4-FFF2-40B4-BE49-F238E27FC236}">
                  <a16:creationId xmlns:a16="http://schemas.microsoft.com/office/drawing/2014/main" id="{22622B4B-9A5F-EBFB-72D1-6CD3BD9095D8}"/>
                </a:ext>
              </a:extLst>
            </p:cNvPr>
            <p:cNvSpPr/>
            <p:nvPr/>
          </p:nvSpPr>
          <p:spPr>
            <a:xfrm>
              <a:off x="2449251" y="247251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Universal</a:t>
              </a:r>
              <a:endParaRPr lang="en-US" sz="850" dirty="0"/>
            </a:p>
          </p:txBody>
        </p:sp>
        <p:sp>
          <p:nvSpPr>
            <p:cNvPr id="15" name="Text 26">
              <a:extLst>
                <a:ext uri="{FF2B5EF4-FFF2-40B4-BE49-F238E27FC236}">
                  <a16:creationId xmlns:a16="http://schemas.microsoft.com/office/drawing/2014/main" id="{C9808180-64FF-7AA4-C0DC-0F4C1CD2EC77}"/>
                </a:ext>
              </a:extLst>
            </p:cNvPr>
            <p:cNvSpPr/>
            <p:nvPr/>
          </p:nvSpPr>
          <p:spPr>
            <a:xfrm>
              <a:off x="2403292" y="220734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*</a:t>
              </a:r>
              <a:endParaRPr lang="en-US" sz="130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EC9D35A-5455-0123-3C0A-7D65236ED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105" y="1612108"/>
            <a:ext cx="4141277" cy="29618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A0707E-6C5A-5DD2-C099-C6C955CA3C81}"/>
              </a:ext>
            </a:extLst>
          </p:cNvPr>
          <p:cNvSpPr txBox="1"/>
          <p:nvPr/>
        </p:nvSpPr>
        <p:spPr>
          <a:xfrm>
            <a:off x="4476105" y="1244685"/>
            <a:ext cx="4937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wk2example4.html</a:t>
            </a:r>
            <a:endParaRPr lang="en-SG" i="1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6049B7-F618-B85E-EA62-EED16DA200EC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2983491" y="402072"/>
            <a:ext cx="399395" cy="3668086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6">
            <a:extLst>
              <a:ext uri="{FF2B5EF4-FFF2-40B4-BE49-F238E27FC236}">
                <a16:creationId xmlns:a16="http://schemas.microsoft.com/office/drawing/2014/main" id="{D3114F2F-A9A3-8359-B9DC-50C77B1FCD0E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 flipH="1" flipV="1">
            <a:off x="2702980" y="1284043"/>
            <a:ext cx="960418" cy="3668089"/>
          </a:xfrm>
          <a:prstGeom prst="bentConnector4">
            <a:avLst>
              <a:gd name="adj1" fmla="val -23802"/>
              <a:gd name="adj2" fmla="val 74655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 Syntax: Class selector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3825A-1CDA-C901-A0CD-FE25A9F2D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426531"/>
            <a:ext cx="4304858" cy="3548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D4972A-E897-337A-8275-8B0275239F80}"/>
              </a:ext>
            </a:extLst>
          </p:cNvPr>
          <p:cNvSpPr txBox="1"/>
          <p:nvPr/>
        </p:nvSpPr>
        <p:spPr>
          <a:xfrm>
            <a:off x="347089" y="11062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wk2example5.html</a:t>
            </a:r>
            <a:endParaRPr lang="en-SG" i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FA9254-D338-3D53-F505-9AD39AF393A4}"/>
              </a:ext>
            </a:extLst>
          </p:cNvPr>
          <p:cNvGrpSpPr/>
          <p:nvPr/>
        </p:nvGrpSpPr>
        <p:grpSpPr>
          <a:xfrm>
            <a:off x="5115098" y="1432765"/>
            <a:ext cx="3429000" cy="1303508"/>
            <a:chOff x="5440680" y="1143000"/>
            <a:chExt cx="3429000" cy="3068782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1EAF42A7-C392-FC08-98A9-E48AEA62028A}"/>
                </a:ext>
              </a:extLst>
            </p:cNvPr>
            <p:cNvSpPr/>
            <p:nvPr/>
          </p:nvSpPr>
          <p:spPr>
            <a:xfrm>
              <a:off x="5440680" y="1143000"/>
              <a:ext cx="3429000" cy="306878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70DC2E53-AE57-CA62-56D9-99928B5049C0}"/>
                </a:ext>
              </a:extLst>
            </p:cNvPr>
            <p:cNvSpPr/>
            <p:nvPr/>
          </p:nvSpPr>
          <p:spPr>
            <a:xfrm>
              <a:off x="5440680" y="1143000"/>
              <a:ext cx="3429000" cy="25603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1F907C2E-01A1-925E-F7AA-3689F6690DE3}"/>
                </a:ext>
              </a:extLst>
            </p:cNvPr>
            <p:cNvSpPr/>
            <p:nvPr/>
          </p:nvSpPr>
          <p:spPr>
            <a:xfrm>
              <a:off x="5440680" y="1163998"/>
              <a:ext cx="3246120" cy="2204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70A5901-B83B-F66A-FA34-C4843CC8A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311" y="1719089"/>
            <a:ext cx="2882574" cy="8526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04B0B2C-883C-1F83-C4E2-00FC044D3D8A}"/>
              </a:ext>
            </a:extLst>
          </p:cNvPr>
          <p:cNvGrpSpPr/>
          <p:nvPr/>
        </p:nvGrpSpPr>
        <p:grpSpPr>
          <a:xfrm>
            <a:off x="4820476" y="3200565"/>
            <a:ext cx="4150342" cy="502920"/>
            <a:chOff x="366240" y="4390137"/>
            <a:chExt cx="8164968" cy="502920"/>
          </a:xfrm>
        </p:grpSpPr>
        <p:sp>
          <p:nvSpPr>
            <p:cNvPr id="15" name="Shape 19">
              <a:extLst>
                <a:ext uri="{FF2B5EF4-FFF2-40B4-BE49-F238E27FC236}">
                  <a16:creationId xmlns:a16="http://schemas.microsoft.com/office/drawing/2014/main" id="{2D573B47-EEB1-503A-30F9-DEFCE351F83D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8CB0AF97-BBA4-CAAA-A852-E3A59B15CFAB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 </a:t>
              </a:r>
              <a:r>
                <a:rPr lang="en-US" sz="1200" dirty="0">
                  <a:solidFill>
                    <a:srgbClr val="0070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 selectors has a higher priority(specificity) over element selectors.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CSS Selectors</a:t>
            </a:r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42032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There are many selectors in CSS. </a:t>
            </a:r>
            <a:endParaRPr b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A reference list is here: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https://www.w3schools.com/cssref/css_selectors.asp</a:t>
            </a:r>
            <a:r>
              <a:rPr lang="en">
                <a:solidFill>
                  <a:schemeClr val="hlink"/>
                </a:solidFill>
                <a:uFill>
                  <a:noFill/>
                </a:uFill>
              </a:rPr>
              <a:t>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Some Exotic Examples</a:t>
            </a:r>
            <a:endParaRPr b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graphicFrame>
        <p:nvGraphicFramePr>
          <p:cNvPr id="171" name="Google Shape;171;p17"/>
          <p:cNvGraphicFramePr/>
          <p:nvPr>
            <p:extLst>
              <p:ext uri="{D42A27DB-BD31-4B8C-83A1-F6EECF244321}">
                <p14:modId xmlns:p14="http://schemas.microsoft.com/office/powerpoint/2010/main" val="4107969785"/>
              </p:ext>
            </p:extLst>
          </p:nvPr>
        </p:nvGraphicFramePr>
        <p:xfrm>
          <a:off x="4832400" y="1854150"/>
          <a:ext cx="3810700" cy="2761026"/>
        </p:xfrm>
        <a:graphic>
          <a:graphicData uri="http://schemas.openxmlformats.org/drawingml/2006/table">
            <a:tbl>
              <a:tblPr>
                <a:noFill/>
                <a:tableStyleId>{9457DA4B-BAC7-4D48-AA5B-6CF8F0DF2040}</a:tableStyleId>
              </a:tblPr>
              <a:tblGrid>
                <a:gridCol w="15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 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all elements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sng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input:selected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input:checked	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Selects every checked &lt;input&gt; element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:not(p)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Selects every element that is not a &lt;p&gt; element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 Cascading Order 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11888F-FF5A-F18F-FB30-2C8DE739E844}"/>
              </a:ext>
            </a:extLst>
          </p:cNvPr>
          <p:cNvGrpSpPr/>
          <p:nvPr/>
        </p:nvGrpSpPr>
        <p:grpSpPr>
          <a:xfrm>
            <a:off x="1783370" y="1188070"/>
            <a:ext cx="7093555" cy="1491541"/>
            <a:chOff x="1325880" y="1237276"/>
            <a:chExt cx="9692640" cy="2148840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C847E7A7-E91B-3992-BAE2-7778078D155F}"/>
                </a:ext>
              </a:extLst>
            </p:cNvPr>
            <p:cNvSpPr/>
            <p:nvPr/>
          </p:nvSpPr>
          <p:spPr>
            <a:xfrm>
              <a:off x="3154680" y="1237276"/>
              <a:ext cx="2743200" cy="594360"/>
            </a:xfrm>
            <a:prstGeom prst="rect">
              <a:avLst/>
            </a:prstGeom>
            <a:solidFill>
              <a:srgbClr val="EA580C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AD3F1599-757A-20C4-3D5E-D5E3A6C57413}"/>
                </a:ext>
              </a:extLst>
            </p:cNvPr>
            <p:cNvSpPr/>
            <p:nvPr/>
          </p:nvSpPr>
          <p:spPr>
            <a:xfrm>
              <a:off x="3246120" y="1237276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Inline Style</a:t>
              </a:r>
              <a:endParaRPr lang="en-US" sz="1200" dirty="0"/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647A63EC-523B-8632-3E8D-2C2CAAC3BE40}"/>
                </a:ext>
              </a:extLst>
            </p:cNvPr>
            <p:cNvSpPr/>
            <p:nvPr/>
          </p:nvSpPr>
          <p:spPr>
            <a:xfrm>
              <a:off x="5989320" y="1401868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 priority</a:t>
              </a:r>
              <a:endParaRPr lang="en-US" sz="1000" dirty="0"/>
            </a:p>
          </p:txBody>
        </p:sp>
        <p:sp>
          <p:nvSpPr>
            <p:cNvPr id="5" name="Shape 5">
              <a:extLst>
                <a:ext uri="{FF2B5EF4-FFF2-40B4-BE49-F238E27FC236}">
                  <a16:creationId xmlns:a16="http://schemas.microsoft.com/office/drawing/2014/main" id="{31416553-16E8-E6BB-1C8D-CFEB29166A09}"/>
                </a:ext>
              </a:extLst>
            </p:cNvPr>
            <p:cNvSpPr/>
            <p:nvPr/>
          </p:nvSpPr>
          <p:spPr>
            <a:xfrm>
              <a:off x="2240280" y="2014516"/>
              <a:ext cx="4572000" cy="594360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 6">
              <a:extLst>
                <a:ext uri="{FF2B5EF4-FFF2-40B4-BE49-F238E27FC236}">
                  <a16:creationId xmlns:a16="http://schemas.microsoft.com/office/drawing/2014/main" id="{87F17FE7-EF7E-E0FA-5172-48789351DC49}"/>
                </a:ext>
              </a:extLst>
            </p:cNvPr>
            <p:cNvSpPr/>
            <p:nvPr/>
          </p:nvSpPr>
          <p:spPr>
            <a:xfrm>
              <a:off x="2331720" y="2014516"/>
              <a:ext cx="44805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Internal / External (last defined)</a:t>
              </a:r>
              <a:endParaRPr lang="en-US" sz="1200" dirty="0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EE79BD47-0FA0-3AE9-B581-8536E4BB858A}"/>
                </a:ext>
              </a:extLst>
            </p:cNvPr>
            <p:cNvSpPr/>
            <p:nvPr/>
          </p:nvSpPr>
          <p:spPr>
            <a:xfrm>
              <a:off x="6903720" y="2179108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priority — last wins</a:t>
              </a:r>
              <a:endParaRPr lang="en-US" sz="1000" dirty="0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C356816A-0557-AD67-9B21-899803FCD484}"/>
                </a:ext>
              </a:extLst>
            </p:cNvPr>
            <p:cNvSpPr/>
            <p:nvPr/>
          </p:nvSpPr>
          <p:spPr>
            <a:xfrm>
              <a:off x="1325880" y="2791756"/>
              <a:ext cx="6400800" cy="594360"/>
            </a:xfrm>
            <a:prstGeom prst="rect">
              <a:avLst/>
            </a:prstGeom>
            <a:solidFill>
              <a:srgbClr val="64748B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2926EB68-0E97-4C92-7486-7209D8417A52}"/>
                </a:ext>
              </a:extLst>
            </p:cNvPr>
            <p:cNvSpPr/>
            <p:nvPr/>
          </p:nvSpPr>
          <p:spPr>
            <a:xfrm>
              <a:off x="1417320" y="2791756"/>
              <a:ext cx="6309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Browser Default</a:t>
              </a:r>
              <a:endParaRPr lang="en-US" sz="1200" dirty="0"/>
            </a:p>
          </p:txBody>
        </p:sp>
        <p:sp>
          <p:nvSpPr>
            <p:cNvPr id="10" name="Text 10">
              <a:extLst>
                <a:ext uri="{FF2B5EF4-FFF2-40B4-BE49-F238E27FC236}">
                  <a16:creationId xmlns:a16="http://schemas.microsoft.com/office/drawing/2014/main" id="{C66398E0-21B8-9EBC-6C66-12C5A8A62391}"/>
                </a:ext>
              </a:extLst>
            </p:cNvPr>
            <p:cNvSpPr/>
            <p:nvPr/>
          </p:nvSpPr>
          <p:spPr>
            <a:xfrm>
              <a:off x="7818120" y="2956348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Lowest priority</a:t>
              </a:r>
              <a:endParaRPr lang="en-US" sz="1000" dirty="0"/>
            </a:p>
          </p:txBody>
        </p:sp>
      </p:grpSp>
      <p:sp>
        <p:nvSpPr>
          <p:cNvPr id="14" name="Shape 11">
            <a:extLst>
              <a:ext uri="{FF2B5EF4-FFF2-40B4-BE49-F238E27FC236}">
                <a16:creationId xmlns:a16="http://schemas.microsoft.com/office/drawing/2014/main" id="{C5EAD23D-E99E-AC36-4D1E-9767F7E0C580}"/>
              </a:ext>
            </a:extLst>
          </p:cNvPr>
          <p:cNvSpPr/>
          <p:nvPr/>
        </p:nvSpPr>
        <p:spPr>
          <a:xfrm>
            <a:off x="311700" y="3139388"/>
            <a:ext cx="45720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AF53677-0F36-9C94-207E-9D52480D8D38}"/>
              </a:ext>
            </a:extLst>
          </p:cNvPr>
          <p:cNvSpPr/>
          <p:nvPr/>
        </p:nvSpPr>
        <p:spPr>
          <a:xfrm>
            <a:off x="384852" y="3212540"/>
            <a:ext cx="4882896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h2 { color: red; }   /* internal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style="color: green;"&gt;CAUTION&lt;/h2&gt;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Result: green (inline wins over internal) */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27AAF-52CF-0C36-35A8-F767912698B3}"/>
              </a:ext>
            </a:extLst>
          </p:cNvPr>
          <p:cNvSpPr txBox="1"/>
          <p:nvPr/>
        </p:nvSpPr>
        <p:spPr>
          <a:xfrm>
            <a:off x="232618" y="28051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wk2example6.html</a:t>
            </a:r>
            <a:endParaRPr lang="en-SG" i="1" dirty="0">
              <a:solidFill>
                <a:schemeClr val="tx1"/>
              </a:solidFill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6AF18114-1075-AAE9-8554-105AD19DCD61}"/>
              </a:ext>
            </a:extLst>
          </p:cNvPr>
          <p:cNvSpPr/>
          <p:nvPr/>
        </p:nvSpPr>
        <p:spPr>
          <a:xfrm>
            <a:off x="5330148" y="3122828"/>
            <a:ext cx="3429000" cy="88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E98D309-4344-A33F-DE55-E0D20E88BC85}"/>
              </a:ext>
            </a:extLst>
          </p:cNvPr>
          <p:cNvSpPr/>
          <p:nvPr/>
        </p:nvSpPr>
        <p:spPr>
          <a:xfrm>
            <a:off x="5330148" y="3127097"/>
            <a:ext cx="342900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34C9F1C-13D9-DAFF-3420-0C92CAFA81C8}"/>
              </a:ext>
            </a:extLst>
          </p:cNvPr>
          <p:cNvSpPr/>
          <p:nvPr/>
        </p:nvSpPr>
        <p:spPr>
          <a:xfrm>
            <a:off x="5421588" y="314111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6655C555-9A5A-F480-E31F-48373EAC1A83}"/>
              </a:ext>
            </a:extLst>
          </p:cNvPr>
          <p:cNvSpPr/>
          <p:nvPr/>
        </p:nvSpPr>
        <p:spPr>
          <a:xfrm>
            <a:off x="5330148" y="3383129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 Conflict Resolving</a:t>
            </a:r>
            <a:endParaRPr dirty="0"/>
          </a:p>
        </p:txBody>
      </p:sp>
      <p:sp>
        <p:nvSpPr>
          <p:cNvPr id="184" name="Google Shape;184;p19"/>
          <p:cNvSpPr txBox="1">
            <a:spLocks noGrp="1"/>
          </p:cNvSpPr>
          <p:nvPr>
            <p:ph type="body" idx="1"/>
          </p:nvPr>
        </p:nvSpPr>
        <p:spPr>
          <a:xfrm>
            <a:off x="5733143" y="1202827"/>
            <a:ext cx="3099157" cy="373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If multiple conflicting styles are defined with the same priority, the conflict is resolved as follows (assuming a left-to-right, top-to-bottom processing order).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For </a:t>
            </a:r>
            <a:r>
              <a:rPr lang="en" dirty="0">
                <a:solidFill>
                  <a:srgbClr val="0070C0"/>
                </a:solidFill>
              </a:rPr>
              <a:t>inline style</a:t>
            </a:r>
            <a:r>
              <a:rPr lang="en" dirty="0"/>
              <a:t>, the </a:t>
            </a:r>
            <a:r>
              <a:rPr lang="en" dirty="0">
                <a:solidFill>
                  <a:srgbClr val="0070C0"/>
                </a:solidFill>
              </a:rPr>
              <a:t>first</a:t>
            </a:r>
            <a:r>
              <a:rPr lang="en" dirty="0"/>
              <a:t> one (</a:t>
            </a:r>
            <a:r>
              <a:rPr lang="en" dirty="0">
                <a:solidFill>
                  <a:srgbClr val="0070C0"/>
                </a:solidFill>
              </a:rPr>
              <a:t>style attribute</a:t>
            </a:r>
            <a:r>
              <a:rPr lang="en" dirty="0"/>
              <a:t>) applies.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For </a:t>
            </a:r>
            <a:r>
              <a:rPr lang="en" dirty="0">
                <a:solidFill>
                  <a:srgbClr val="0070C0"/>
                </a:solidFill>
              </a:rPr>
              <a:t>internal </a:t>
            </a:r>
            <a:r>
              <a:rPr lang="en" dirty="0"/>
              <a:t>or </a:t>
            </a:r>
            <a:r>
              <a:rPr lang="en" dirty="0">
                <a:solidFill>
                  <a:srgbClr val="0070C0"/>
                </a:solidFill>
              </a:rPr>
              <a:t>external style </a:t>
            </a:r>
            <a:r>
              <a:rPr lang="en" dirty="0"/>
              <a:t>sheet, the </a:t>
            </a:r>
            <a:r>
              <a:rPr lang="en" dirty="0">
                <a:solidFill>
                  <a:srgbClr val="0070C0"/>
                </a:solidFill>
              </a:rPr>
              <a:t>last one </a:t>
            </a:r>
            <a:r>
              <a:rPr lang="en" dirty="0"/>
              <a:t>applies.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E9028-7902-38CB-381D-262D2FFC1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26" y="1597057"/>
            <a:ext cx="3260778" cy="1712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8E6BB8-B952-DD7A-3ECF-D9E0DE505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90" y="1597057"/>
            <a:ext cx="1255614" cy="171220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8C7B73-8E28-6DC8-91A7-CA3F5FB0C490}"/>
              </a:ext>
            </a:extLst>
          </p:cNvPr>
          <p:cNvGrpSpPr/>
          <p:nvPr/>
        </p:nvGrpSpPr>
        <p:grpSpPr>
          <a:xfrm>
            <a:off x="443902" y="3522592"/>
            <a:ext cx="4880801" cy="1419521"/>
            <a:chOff x="443902" y="3522592"/>
            <a:chExt cx="4880801" cy="1419521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02E2F90F-0FCF-3216-DDCB-78AE12A68C91}"/>
                </a:ext>
              </a:extLst>
            </p:cNvPr>
            <p:cNvSpPr/>
            <p:nvPr/>
          </p:nvSpPr>
          <p:spPr>
            <a:xfrm>
              <a:off x="443902" y="3522592"/>
              <a:ext cx="4880801" cy="141952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BC4DB91C-4004-1858-DEA1-8AD227CF1F14}"/>
                </a:ext>
              </a:extLst>
            </p:cNvPr>
            <p:cNvSpPr/>
            <p:nvPr/>
          </p:nvSpPr>
          <p:spPr>
            <a:xfrm>
              <a:off x="443902" y="3526861"/>
              <a:ext cx="4880801" cy="29014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 9">
            <a:extLst>
              <a:ext uri="{FF2B5EF4-FFF2-40B4-BE49-F238E27FC236}">
                <a16:creationId xmlns:a16="http://schemas.microsoft.com/office/drawing/2014/main" id="{2D6FB283-5912-8925-2B7E-E0618EF1192F}"/>
              </a:ext>
            </a:extLst>
          </p:cNvPr>
          <p:cNvSpPr/>
          <p:nvPr/>
        </p:nvSpPr>
        <p:spPr>
          <a:xfrm>
            <a:off x="443903" y="355429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96D4E9-1DB3-6C40-E11B-C2138F548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24" y="3884369"/>
            <a:ext cx="2878305" cy="9903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B06431-F9D8-2695-DF38-C2C72114349C}"/>
              </a:ext>
            </a:extLst>
          </p:cNvPr>
          <p:cNvSpPr txBox="1"/>
          <p:nvPr/>
        </p:nvSpPr>
        <p:spPr>
          <a:xfrm>
            <a:off x="462726" y="1255600"/>
            <a:ext cx="3227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wk2example7.html</a:t>
            </a:r>
            <a:endParaRPr lang="en-SG" i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5B513-CB0F-A4D3-CF6C-576BB7D93DFB}"/>
              </a:ext>
            </a:extLst>
          </p:cNvPr>
          <p:cNvSpPr txBox="1"/>
          <p:nvPr/>
        </p:nvSpPr>
        <p:spPr>
          <a:xfrm>
            <a:off x="3999076" y="1248111"/>
            <a:ext cx="1683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wk2ex7.css</a:t>
            </a:r>
            <a:endParaRPr lang="en-SG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Exercise 2</a:t>
            </a: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/>
              <a:t>CSS Debugging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Given ex2.html, read the text and identify the problems.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Fix the bugs so that the text is consistent with its style.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CSS: Text properties</a:t>
            </a:r>
            <a:endParaRPr dirty="0"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2"/>
          </p:nvPr>
        </p:nvSpPr>
        <p:spPr>
          <a:xfrm>
            <a:off x="5420061" y="1029187"/>
            <a:ext cx="2834112" cy="177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 dirty="0"/>
              <a:t>Text display properties </a:t>
            </a:r>
            <a:endParaRPr sz="1100" u="sng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70C0"/>
                </a:solidFill>
              </a:rPr>
              <a:t>Color</a:t>
            </a:r>
            <a:r>
              <a:rPr lang="en" sz="1100" dirty="0"/>
              <a:t>: specify the color of the text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0070C0"/>
                </a:solidFill>
              </a:rPr>
              <a:t>Text-align</a:t>
            </a:r>
            <a:r>
              <a:rPr lang="en" sz="1100" dirty="0"/>
              <a:t>: specify horizontal alignment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100" dirty="0">
                <a:solidFill>
                  <a:srgbClr val="0070C0"/>
                </a:solidFill>
              </a:rPr>
              <a:t>Text-decoration</a:t>
            </a:r>
            <a:r>
              <a:rPr lang="en" sz="1100" dirty="0"/>
              <a:t>: e.g., </a:t>
            </a:r>
            <a:r>
              <a:rPr lang="en" sz="1100" i="1" dirty="0"/>
              <a:t>p { text-decoration: line-through; }</a:t>
            </a:r>
            <a:endParaRPr sz="11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94843-BAB2-4D27-433B-483FF2EB978D}"/>
              </a:ext>
            </a:extLst>
          </p:cNvPr>
          <p:cNvSpPr txBox="1"/>
          <p:nvPr/>
        </p:nvSpPr>
        <p:spPr>
          <a:xfrm>
            <a:off x="311700" y="1029188"/>
            <a:ext cx="1918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wk2example8.html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0F2BA-864F-BF2B-332C-2B1F1491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10" y="1330037"/>
            <a:ext cx="1786896" cy="2476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3B5756-FE48-2987-DBAB-E4BF11522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616" y="1336965"/>
            <a:ext cx="2963974" cy="158143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E2294C5-9A80-356D-3E7A-CB20C4D473CE}"/>
              </a:ext>
            </a:extLst>
          </p:cNvPr>
          <p:cNvGrpSpPr/>
          <p:nvPr/>
        </p:nvGrpSpPr>
        <p:grpSpPr>
          <a:xfrm>
            <a:off x="3373372" y="3038850"/>
            <a:ext cx="4880801" cy="2046513"/>
            <a:chOff x="443902" y="2895600"/>
            <a:chExt cx="4880801" cy="2046513"/>
          </a:xfrm>
        </p:grpSpPr>
        <p:sp>
          <p:nvSpPr>
            <p:cNvPr id="3" name="Shape 7">
              <a:extLst>
                <a:ext uri="{FF2B5EF4-FFF2-40B4-BE49-F238E27FC236}">
                  <a16:creationId xmlns:a16="http://schemas.microsoft.com/office/drawing/2014/main" id="{329BC3E5-2DC3-4FFF-1F76-FC915C2D7EF9}"/>
                </a:ext>
              </a:extLst>
            </p:cNvPr>
            <p:cNvSpPr/>
            <p:nvPr/>
          </p:nvSpPr>
          <p:spPr>
            <a:xfrm>
              <a:off x="443902" y="2895600"/>
              <a:ext cx="4880801" cy="204651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Shape 8">
              <a:extLst>
                <a:ext uri="{FF2B5EF4-FFF2-40B4-BE49-F238E27FC236}">
                  <a16:creationId xmlns:a16="http://schemas.microsoft.com/office/drawing/2014/main" id="{334A75C0-7E48-4385-B52D-DCAD17785A2E}"/>
                </a:ext>
              </a:extLst>
            </p:cNvPr>
            <p:cNvSpPr/>
            <p:nvPr/>
          </p:nvSpPr>
          <p:spPr>
            <a:xfrm>
              <a:off x="443902" y="2901755"/>
              <a:ext cx="4880801" cy="290022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F4EBDEAC-2CB4-FE1C-B37C-7CE81370FA92}"/>
                </a:ext>
              </a:extLst>
            </p:cNvPr>
            <p:cNvSpPr/>
            <p:nvPr/>
          </p:nvSpPr>
          <p:spPr>
            <a:xfrm>
              <a:off x="443902" y="2901755"/>
              <a:ext cx="3246120" cy="29002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A017FA7-47D7-3201-884A-21CB83C29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126" y="3320061"/>
              <a:ext cx="4231584" cy="1550387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81E1F7-758B-880A-B61F-030F884BCFE1}"/>
              </a:ext>
            </a:extLst>
          </p:cNvPr>
          <p:cNvGrpSpPr/>
          <p:nvPr/>
        </p:nvGrpSpPr>
        <p:grpSpPr>
          <a:xfrm>
            <a:off x="408710" y="3969126"/>
            <a:ext cx="2427338" cy="696335"/>
            <a:chOff x="366240" y="4390137"/>
            <a:chExt cx="8164968" cy="502920"/>
          </a:xfrm>
        </p:grpSpPr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951B625D-CDB1-DCB2-466A-188538EBC30C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0CC3BA8B-5029-4677-23D2-B3655ED26000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💡Reference list of properties: </a:t>
              </a:r>
              <a:r>
                <a:rPr lang="en-SG" sz="1100" dirty="0">
                  <a:solidFill>
                    <a:schemeClr val="hlink"/>
                  </a:solidFill>
                  <a:uFill>
                    <a:noFill/>
                  </a:uFill>
                  <a:hlinkClick r:id="rId6"/>
                </a:rPr>
                <a:t>https://www.w3schools.com/cssref/</a:t>
              </a:r>
              <a:endParaRPr lang="en-US" sz="1100" dirty="0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CSS: Display properties</a:t>
            </a:r>
            <a:endParaRPr dirty="0"/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311699" y="1225225"/>
            <a:ext cx="8244471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/>
              <a:t>Display properties</a:t>
            </a:r>
            <a:endParaRPr b="1"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Specifies how an element is displayed with respect to other elements. 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block</a:t>
            </a:r>
            <a:r>
              <a:rPr lang="en" dirty="0"/>
              <a:t>: displayed on a new line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inline</a:t>
            </a:r>
            <a:r>
              <a:rPr lang="en" dirty="0"/>
              <a:t>: displayed inline with the previous element, i.e., place this element next to the previous one.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none</a:t>
            </a:r>
            <a:r>
              <a:rPr lang="en" dirty="0"/>
              <a:t>: hidden (used with JavaScript to hide/show elements depending on logic)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F41ECB-2D2D-C4C2-D47E-3CDFE8D9E863}"/>
              </a:ext>
            </a:extLst>
          </p:cNvPr>
          <p:cNvGrpSpPr/>
          <p:nvPr/>
        </p:nvGrpSpPr>
        <p:grpSpPr>
          <a:xfrm>
            <a:off x="1927380" y="4051770"/>
            <a:ext cx="4244819" cy="311509"/>
            <a:chOff x="366240" y="4390137"/>
            <a:chExt cx="8164968" cy="502920"/>
          </a:xfrm>
        </p:grpSpPr>
        <p:sp>
          <p:nvSpPr>
            <p:cNvPr id="6" name="Shape 19">
              <a:extLst>
                <a:ext uri="{FF2B5EF4-FFF2-40B4-BE49-F238E27FC236}">
                  <a16:creationId xmlns:a16="http://schemas.microsoft.com/office/drawing/2014/main" id="{CFA8E7D7-1038-8519-8A9C-C5A2FF521523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8C091499-0CFB-9E98-E468-352C5FB38547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" sz="1200" dirty="0"/>
                <a:t> Every HTML element has a </a:t>
              </a:r>
              <a:r>
                <a:rPr lang="en" sz="1200" dirty="0">
                  <a:solidFill>
                    <a:srgbClr val="0070C0"/>
                  </a:solidFill>
                </a:rPr>
                <a:t>default display value</a:t>
              </a:r>
              <a:r>
                <a:rPr lang="en" sz="1200" dirty="0"/>
                <a:t>.</a:t>
              </a:r>
              <a:endParaRPr lang="en-GB" sz="11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D8E507E-A5D9-A828-3FA8-24C775A9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>
            <a:extLst>
              <a:ext uri="{FF2B5EF4-FFF2-40B4-BE49-F238E27FC236}">
                <a16:creationId xmlns:a16="http://schemas.microsoft.com/office/drawing/2014/main" id="{A2040739-83EF-3576-F410-D04C849EB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CSS: Display properties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6F87D-5C92-36E9-45A9-64966B237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" y="1458095"/>
            <a:ext cx="2915055" cy="35632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1EFC4A9-2B3F-B5A3-45FD-9308D1541D00}"/>
              </a:ext>
            </a:extLst>
          </p:cNvPr>
          <p:cNvGrpSpPr/>
          <p:nvPr/>
        </p:nvGrpSpPr>
        <p:grpSpPr>
          <a:xfrm>
            <a:off x="3804672" y="1225225"/>
            <a:ext cx="4244819" cy="1649593"/>
            <a:chOff x="3804672" y="1225225"/>
            <a:chExt cx="4244819" cy="1649593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260F0774-E015-CD9E-B4C6-4D9FE37B0129}"/>
                </a:ext>
              </a:extLst>
            </p:cNvPr>
            <p:cNvSpPr/>
            <p:nvPr/>
          </p:nvSpPr>
          <p:spPr>
            <a:xfrm>
              <a:off x="3804672" y="1225225"/>
              <a:ext cx="4244819" cy="16495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1BDFBFCD-C18B-2A2B-9618-B17AB30804CA}"/>
                </a:ext>
              </a:extLst>
            </p:cNvPr>
            <p:cNvSpPr/>
            <p:nvPr/>
          </p:nvSpPr>
          <p:spPr>
            <a:xfrm>
              <a:off x="3804672" y="1229494"/>
              <a:ext cx="4244819" cy="28757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105A89C9-FB0C-C68C-F046-0C49E7F4ABB3}"/>
                </a:ext>
              </a:extLst>
            </p:cNvPr>
            <p:cNvSpPr/>
            <p:nvPr/>
          </p:nvSpPr>
          <p:spPr>
            <a:xfrm>
              <a:off x="3804673" y="1256927"/>
              <a:ext cx="282314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E0A566-E208-1F1B-B48A-E5FF63A7B74E}"/>
              </a:ext>
            </a:extLst>
          </p:cNvPr>
          <p:cNvGrpSpPr/>
          <p:nvPr/>
        </p:nvGrpSpPr>
        <p:grpSpPr>
          <a:xfrm>
            <a:off x="3804671" y="2982268"/>
            <a:ext cx="4244819" cy="1649593"/>
            <a:chOff x="3804672" y="1225225"/>
            <a:chExt cx="4244819" cy="1649593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9FDFCA5C-7986-D7DE-9C7C-BD23FA60EB3B}"/>
                </a:ext>
              </a:extLst>
            </p:cNvPr>
            <p:cNvSpPr/>
            <p:nvPr/>
          </p:nvSpPr>
          <p:spPr>
            <a:xfrm>
              <a:off x="3804672" y="1225225"/>
              <a:ext cx="4244819" cy="16495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A34AE98E-1664-637A-CE4E-0AF80A1B58EF}"/>
                </a:ext>
              </a:extLst>
            </p:cNvPr>
            <p:cNvSpPr/>
            <p:nvPr/>
          </p:nvSpPr>
          <p:spPr>
            <a:xfrm>
              <a:off x="3804672" y="1229494"/>
              <a:ext cx="4244819" cy="28757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2AC46405-E72A-66E4-C43E-5C98CFBF91E8}"/>
                </a:ext>
              </a:extLst>
            </p:cNvPr>
            <p:cNvSpPr/>
            <p:nvPr/>
          </p:nvSpPr>
          <p:spPr>
            <a:xfrm>
              <a:off x="3804673" y="1256927"/>
              <a:ext cx="282314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2AEC5AE1-D441-50BF-F809-BB4AD1182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009" y="1706681"/>
            <a:ext cx="3980573" cy="8650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277C58E-74CA-8AF2-4105-964CC7B2C9BE}"/>
              </a:ext>
            </a:extLst>
          </p:cNvPr>
          <p:cNvSpPr/>
          <p:nvPr/>
        </p:nvSpPr>
        <p:spPr>
          <a:xfrm>
            <a:off x="1018309" y="2564822"/>
            <a:ext cx="789709" cy="131618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724A3F-559D-DB81-F009-9000B5CA0FFC}"/>
              </a:ext>
            </a:extLst>
          </p:cNvPr>
          <p:cNvCxnSpPr>
            <a:cxnSpLocks/>
            <a:stCxn id="22" idx="3"/>
            <a:endCxn id="12" idx="1"/>
          </p:cNvCxnSpPr>
          <p:nvPr/>
        </p:nvCxnSpPr>
        <p:spPr>
          <a:xfrm flipV="1">
            <a:off x="1808018" y="2050022"/>
            <a:ext cx="1996654" cy="580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C37577-EF26-152B-2CEE-7E26DD5E594C}"/>
              </a:ext>
            </a:extLst>
          </p:cNvPr>
          <p:cNvSpPr txBox="1"/>
          <p:nvPr/>
        </p:nvSpPr>
        <p:spPr>
          <a:xfrm>
            <a:off x="1890143" y="2377831"/>
            <a:ext cx="14205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dirty="0">
                <a:solidFill>
                  <a:srgbClr val="00B050"/>
                </a:solidFill>
              </a:rPr>
              <a:t>if “display: inline” is omitted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2890A36-D7AA-2924-B3D7-61DF251AD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008" y="3489829"/>
            <a:ext cx="3806376" cy="694244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D14409-097B-8C7C-8116-AA85AABCB072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1808018" y="2630631"/>
            <a:ext cx="1996653" cy="117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EFB862D-5F0B-BD09-5462-85C7DCCC0541}"/>
              </a:ext>
            </a:extLst>
          </p:cNvPr>
          <p:cNvSpPr txBox="1"/>
          <p:nvPr/>
        </p:nvSpPr>
        <p:spPr>
          <a:xfrm>
            <a:off x="1883819" y="2982268"/>
            <a:ext cx="14670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dirty="0">
                <a:solidFill>
                  <a:srgbClr val="00B050"/>
                </a:solidFill>
              </a:rPr>
              <a:t>if “display: inline” is included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5707DF-AA25-0530-C664-4BC303258448}"/>
              </a:ext>
            </a:extLst>
          </p:cNvPr>
          <p:cNvGrpSpPr/>
          <p:nvPr/>
        </p:nvGrpSpPr>
        <p:grpSpPr>
          <a:xfrm>
            <a:off x="3804671" y="4709861"/>
            <a:ext cx="4244819" cy="311509"/>
            <a:chOff x="366240" y="4390137"/>
            <a:chExt cx="8164968" cy="502920"/>
          </a:xfrm>
        </p:grpSpPr>
        <p:sp>
          <p:nvSpPr>
            <p:cNvPr id="35" name="Shape 19">
              <a:extLst>
                <a:ext uri="{FF2B5EF4-FFF2-40B4-BE49-F238E27FC236}">
                  <a16:creationId xmlns:a16="http://schemas.microsoft.com/office/drawing/2014/main" id="{C24ED6D7-40C1-3D31-CE00-340112C34B9C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76423627-9F67-60CC-9EB6-22AD8487F316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💡Video to explain differences: </a:t>
              </a:r>
              <a:r>
                <a:rPr lang="en-GB" sz="1100" dirty="0">
                  <a:hlinkClick r:id="rId6"/>
                </a:rPr>
                <a:t>inline, block and inline-block</a:t>
              </a:r>
              <a:endParaRPr lang="en-GB" sz="11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82F47E3-2A78-89B2-0E64-65C4D630B4CD}"/>
              </a:ext>
            </a:extLst>
          </p:cNvPr>
          <p:cNvSpPr txBox="1"/>
          <p:nvPr/>
        </p:nvSpPr>
        <p:spPr>
          <a:xfrm>
            <a:off x="458527" y="1075605"/>
            <a:ext cx="3227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wk2example9.html</a:t>
            </a:r>
            <a:endParaRPr lang="en-SG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069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SG" dirty="0"/>
              <a:t>CSS: Other properties </a:t>
            </a:r>
          </a:p>
        </p:txBody>
      </p:sp>
      <p:graphicFrame>
        <p:nvGraphicFramePr>
          <p:cNvPr id="211" name="Google Shape;211;p23"/>
          <p:cNvGraphicFramePr/>
          <p:nvPr>
            <p:extLst>
              <p:ext uri="{D42A27DB-BD31-4B8C-83A1-F6EECF244321}">
                <p14:modId xmlns:p14="http://schemas.microsoft.com/office/powerpoint/2010/main" val="3913454584"/>
              </p:ext>
            </p:extLst>
          </p:nvPr>
        </p:nvGraphicFramePr>
        <p:xfrm>
          <a:off x="311700" y="1528225"/>
          <a:ext cx="8520600" cy="2840148"/>
        </p:xfrm>
        <a:graphic>
          <a:graphicData uri="http://schemas.openxmlformats.org/drawingml/2006/table">
            <a:tbl>
              <a:tblPr>
                <a:noFill/>
                <a:tableStyleId>{9457DA4B-BAC7-4D48-AA5B-6CF8F0DF2040}</a:tableStyleId>
              </a:tblPr>
              <a:tblGrid>
                <a:gridCol w="284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bg1"/>
                          </a:solidFill>
                        </a:rPr>
                        <a:t>Category</a:t>
                      </a:r>
                      <a:r>
                        <a:rPr lang="en" sz="1400" b="1" u="none" strike="noStrike" cap="none" dirty="0"/>
                        <a:t> 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sz="1400" b="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u="none" strike="noStrike" cap="none" dirty="0">
                          <a:solidFill>
                            <a:schemeClr val="bg1"/>
                          </a:solidFill>
                        </a:rPr>
                        <a:t>Example value</a:t>
                      </a:r>
                      <a:endParaRPr sz="1400" b="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 properties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font-family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“Times New Roman”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font-style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italic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font-size 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= 16px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 properties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 </a:t>
                      </a:r>
                      <a:r>
                        <a:rPr lang="en" sz="1400" i="1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wk2example10.html</a:t>
                      </a:r>
                      <a:endParaRPr sz="1400" i="1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background-color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background-image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url(“mysite.site/head.png”)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...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CSS: Color values</a:t>
            </a:r>
            <a:endParaRPr dirty="0"/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2"/>
          </p:nvPr>
        </p:nvSpPr>
        <p:spPr>
          <a:xfrm>
            <a:off x="3867018" y="3401003"/>
            <a:ext cx="4816642" cy="1425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200" dirty="0"/>
              <a:t>Color values 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 dirty="0">
                <a:solidFill>
                  <a:srgbClr val="0070C0"/>
                </a:solidFill>
              </a:rPr>
              <a:t>hex</a:t>
            </a:r>
            <a:r>
              <a:rPr lang="en" sz="1200" dirty="0"/>
              <a:t> color value (Google): #eab01c</a:t>
            </a:r>
            <a:endParaRPr sz="1200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 dirty="0">
                <a:solidFill>
                  <a:srgbClr val="0070C0"/>
                </a:solidFill>
              </a:rPr>
              <a:t>rgb</a:t>
            </a:r>
            <a:r>
              <a:rPr lang="en" sz="1200" dirty="0"/>
              <a:t> values : (30, 200, 0) 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 dirty="0">
                <a:solidFill>
                  <a:srgbClr val="0070C0"/>
                </a:solidFill>
              </a:rPr>
              <a:t>rgba</a:t>
            </a:r>
            <a:r>
              <a:rPr lang="en" sz="1200" dirty="0"/>
              <a:t>: red, green, blue, alpha (where alpha is 0 means “fully transparent” and 1 means “fully opaque”)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48152-29D0-895F-A4C3-70DC2E9EE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40" y="1366934"/>
            <a:ext cx="3141555" cy="34594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DC2CAB-474A-A074-EDF0-2534B3F75F6B}"/>
              </a:ext>
            </a:extLst>
          </p:cNvPr>
          <p:cNvSpPr txBox="1"/>
          <p:nvPr/>
        </p:nvSpPr>
        <p:spPr>
          <a:xfrm>
            <a:off x="460340" y="1071336"/>
            <a:ext cx="3045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wk2example11.html</a:t>
            </a:r>
            <a:endParaRPr lang="en-S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846B0D-901C-3DB3-4ACC-76C549BA3728}"/>
              </a:ext>
            </a:extLst>
          </p:cNvPr>
          <p:cNvGrpSpPr/>
          <p:nvPr/>
        </p:nvGrpSpPr>
        <p:grpSpPr>
          <a:xfrm>
            <a:off x="3867018" y="1366934"/>
            <a:ext cx="4816642" cy="1771121"/>
            <a:chOff x="3804672" y="1225225"/>
            <a:chExt cx="4244819" cy="1649593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C981AB7C-9FBC-A0D0-E24A-25DBB26EDDE1}"/>
                </a:ext>
              </a:extLst>
            </p:cNvPr>
            <p:cNvSpPr/>
            <p:nvPr/>
          </p:nvSpPr>
          <p:spPr>
            <a:xfrm>
              <a:off x="3804672" y="1225225"/>
              <a:ext cx="4244819" cy="164959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693E7C93-B83B-FA37-E9A8-5BD995424774}"/>
                </a:ext>
              </a:extLst>
            </p:cNvPr>
            <p:cNvSpPr/>
            <p:nvPr/>
          </p:nvSpPr>
          <p:spPr>
            <a:xfrm>
              <a:off x="3804672" y="1229494"/>
              <a:ext cx="4244819" cy="28757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9" name="Text 9">
              <a:extLst>
                <a:ext uri="{FF2B5EF4-FFF2-40B4-BE49-F238E27FC236}">
                  <a16:creationId xmlns:a16="http://schemas.microsoft.com/office/drawing/2014/main" id="{8829AAD4-05CE-1F79-2831-83028504D018}"/>
                </a:ext>
              </a:extLst>
            </p:cNvPr>
            <p:cNvSpPr/>
            <p:nvPr/>
          </p:nvSpPr>
          <p:spPr>
            <a:xfrm>
              <a:off x="3804673" y="1256927"/>
              <a:ext cx="282314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5BF4AFD-9CEA-E83F-B435-F8E843CCA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301" y="1752079"/>
            <a:ext cx="4046075" cy="12572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CSS: Units of Measurement </a:t>
            </a:r>
            <a:endParaRPr dirty="0"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257336" cy="57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Some CSS values such as values for font-size, width, height, margin, and padding have different units of measurement.</a:t>
            </a:r>
            <a:endParaRPr sz="2000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sp>
        <p:nvSpPr>
          <p:cNvPr id="225" name="Google Shape;225;p25"/>
          <p:cNvSpPr txBox="1">
            <a:spLocks noGrp="1"/>
          </p:cNvSpPr>
          <p:nvPr>
            <p:ph type="body" idx="2"/>
          </p:nvPr>
        </p:nvSpPr>
        <p:spPr>
          <a:xfrm>
            <a:off x="311700" y="1879091"/>
            <a:ext cx="6479836" cy="294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/>
              <a:t>Absolute length: </a:t>
            </a:r>
            <a:endParaRPr b="1" dirty="0"/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in</a:t>
            </a:r>
            <a:r>
              <a:rPr lang="en" dirty="0"/>
              <a:t> (inches) 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cm</a:t>
            </a:r>
            <a:r>
              <a:rPr lang="en" dirty="0"/>
              <a:t> (centimeters) 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px</a:t>
            </a:r>
            <a:r>
              <a:rPr lang="en" dirty="0"/>
              <a:t> (pixels, 1px = 1/96*1inch)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b="1" dirty="0"/>
              <a:t>Relative length:</a:t>
            </a:r>
            <a:endParaRPr b="1" dirty="0"/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%</a:t>
            </a:r>
            <a:r>
              <a:rPr lang="en" dirty="0"/>
              <a:t> (percentage)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em</a:t>
            </a:r>
            <a:r>
              <a:rPr lang="en" dirty="0"/>
              <a:t> (relative to parent element’s font-size)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>
                <a:solidFill>
                  <a:srgbClr val="0070C0"/>
                </a:solidFill>
              </a:rPr>
              <a:t>vw</a:t>
            </a:r>
            <a:r>
              <a:rPr lang="en" dirty="0"/>
              <a:t> (1vw = 1% of the width of the viewport - browser window size)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Exercise 3</a:t>
            </a:r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7095554" cy="49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Given </a:t>
            </a:r>
            <a:r>
              <a:rPr lang="en-GB" i="1" dirty="0"/>
              <a:t>ex3.html</a:t>
            </a:r>
            <a:r>
              <a:rPr lang="en-GB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dirty="0"/>
              <a:t>create the view below using </a:t>
            </a:r>
            <a:r>
              <a:rPr lang="en-GB" i="1" dirty="0"/>
              <a:t>Internal Style sheets</a:t>
            </a:r>
            <a:r>
              <a:rPr lang="en-GB" dirty="0"/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B4470-B9E9-152C-1023-14867707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62" y="1661761"/>
            <a:ext cx="7878728" cy="284669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27DD48-D743-485B-EDBC-BB57B03C435C}"/>
              </a:ext>
            </a:extLst>
          </p:cNvPr>
          <p:cNvCxnSpPr/>
          <p:nvPr/>
        </p:nvCxnSpPr>
        <p:spPr>
          <a:xfrm flipV="1">
            <a:off x="1024864" y="2645009"/>
            <a:ext cx="398900" cy="42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9A6A5D-9A87-22B6-91A9-44DA4A8D605A}"/>
              </a:ext>
            </a:extLst>
          </p:cNvPr>
          <p:cNvCxnSpPr/>
          <p:nvPr/>
        </p:nvCxnSpPr>
        <p:spPr>
          <a:xfrm flipH="1">
            <a:off x="619828" y="3135962"/>
            <a:ext cx="1350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The Box Model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5A0A24-B7B7-B20F-CEC0-7964990AC4C8}"/>
              </a:ext>
            </a:extLst>
          </p:cNvPr>
          <p:cNvGrpSpPr/>
          <p:nvPr/>
        </p:nvGrpSpPr>
        <p:grpSpPr>
          <a:xfrm>
            <a:off x="473947" y="1089590"/>
            <a:ext cx="3883307" cy="3177251"/>
            <a:chOff x="365760" y="777240"/>
            <a:chExt cx="5029200" cy="411480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B610DA38-A84E-9BD8-BF36-4B1E2DC4FFBD}"/>
                </a:ext>
              </a:extLst>
            </p:cNvPr>
            <p:cNvSpPr/>
            <p:nvPr/>
          </p:nvSpPr>
          <p:spPr>
            <a:xfrm>
              <a:off x="365760" y="777240"/>
              <a:ext cx="5029200" cy="4114800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94A3B8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0D27A1A9-B034-8389-ABF3-E1F9A7981962}"/>
                </a:ext>
              </a:extLst>
            </p:cNvPr>
            <p:cNvSpPr/>
            <p:nvPr/>
          </p:nvSpPr>
          <p:spPr>
            <a:xfrm>
              <a:off x="365760" y="777240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</a:t>
              </a:r>
              <a:endParaRPr lang="en-US" sz="11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82E8509B-F428-DEFE-10DB-1FDF18F625E0}"/>
                </a:ext>
              </a:extLst>
            </p:cNvPr>
            <p:cNvSpPr/>
            <p:nvPr/>
          </p:nvSpPr>
          <p:spPr>
            <a:xfrm>
              <a:off x="777240" y="1188720"/>
              <a:ext cx="4206240" cy="3291840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0F51E235-3DA0-802E-3A4D-7B45F747B99C}"/>
                </a:ext>
              </a:extLst>
            </p:cNvPr>
            <p:cNvSpPr/>
            <p:nvPr/>
          </p:nvSpPr>
          <p:spPr>
            <a:xfrm>
              <a:off x="777240" y="1188720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Border</a:t>
              </a:r>
              <a:endParaRPr lang="en-US" sz="1100" dirty="0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3B56A21D-B0DF-28FA-BE30-D2B46C459DD1}"/>
                </a:ext>
              </a:extLst>
            </p:cNvPr>
            <p:cNvSpPr/>
            <p:nvPr/>
          </p:nvSpPr>
          <p:spPr>
            <a:xfrm>
              <a:off x="1143000" y="1600200"/>
              <a:ext cx="3474720" cy="2468880"/>
            </a:xfrm>
            <a:prstGeom prst="rect">
              <a:avLst/>
            </a:prstGeom>
            <a:solidFill>
              <a:srgbClr val="FDE68A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C59A13A0-157E-D23A-D961-A058A499ACE8}"/>
                </a:ext>
              </a:extLst>
            </p:cNvPr>
            <p:cNvSpPr/>
            <p:nvPr/>
          </p:nvSpPr>
          <p:spPr>
            <a:xfrm>
              <a:off x="1143000" y="1600200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Padding</a:t>
              </a:r>
              <a:endParaRPr lang="en-US" sz="11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84ED3A52-3661-62BD-95F7-D762CE8980E8}"/>
                </a:ext>
              </a:extLst>
            </p:cNvPr>
            <p:cNvSpPr/>
            <p:nvPr/>
          </p:nvSpPr>
          <p:spPr>
            <a:xfrm>
              <a:off x="1600200" y="1965960"/>
              <a:ext cx="256032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95B3D411-38B2-47FE-0BF7-49CE18DF05D0}"/>
                </a:ext>
              </a:extLst>
            </p:cNvPr>
            <p:cNvSpPr/>
            <p:nvPr/>
          </p:nvSpPr>
          <p:spPr>
            <a:xfrm>
              <a:off x="1600200" y="260604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Content</a:t>
              </a:r>
              <a:endParaRPr lang="en-US" sz="13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B656EE-C0C5-4C93-3038-18D0D722DFCE}"/>
              </a:ext>
            </a:extLst>
          </p:cNvPr>
          <p:cNvGrpSpPr/>
          <p:nvPr/>
        </p:nvGrpSpPr>
        <p:grpSpPr>
          <a:xfrm>
            <a:off x="4918364" y="1089589"/>
            <a:ext cx="3273879" cy="3181657"/>
            <a:chOff x="5623560" y="960120"/>
            <a:chExt cx="3246120" cy="3154680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FADEC8C-6043-521C-F85E-B66DE4C9C3DE}"/>
                </a:ext>
              </a:extLst>
            </p:cNvPr>
            <p:cNvSpPr/>
            <p:nvPr/>
          </p:nvSpPr>
          <p:spPr>
            <a:xfrm>
              <a:off x="5623560" y="960120"/>
              <a:ext cx="3246120" cy="68580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AE686D9-E76B-D758-3E96-D7C597F2B66B}"/>
                </a:ext>
              </a:extLst>
            </p:cNvPr>
            <p:cNvSpPr/>
            <p:nvPr/>
          </p:nvSpPr>
          <p:spPr>
            <a:xfrm>
              <a:off x="5715000" y="996696"/>
              <a:ext cx="3063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</a:t>
              </a:r>
              <a:endParaRPr lang="en-US" sz="1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CF7EE79-9261-8DAE-4195-BC7E7E16C42C}"/>
                </a:ext>
              </a:extLst>
            </p:cNvPr>
            <p:cNvSpPr/>
            <p:nvPr/>
          </p:nvSpPr>
          <p:spPr>
            <a:xfrm>
              <a:off x="5715000" y="1271016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Space outside border (transparent)</a:t>
              </a:r>
              <a:endParaRPr lang="en-US" sz="95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83A7FEE1-A537-39CB-B4AC-EB510ACF7685}"/>
                </a:ext>
              </a:extLst>
            </p:cNvPr>
            <p:cNvSpPr/>
            <p:nvPr/>
          </p:nvSpPr>
          <p:spPr>
            <a:xfrm>
              <a:off x="5623560" y="1783080"/>
              <a:ext cx="3246120" cy="68580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3D5AF0F7-BCBD-E487-3995-F610B6017215}"/>
                </a:ext>
              </a:extLst>
            </p:cNvPr>
            <p:cNvSpPr/>
            <p:nvPr/>
          </p:nvSpPr>
          <p:spPr>
            <a:xfrm>
              <a:off x="5715000" y="1819656"/>
              <a:ext cx="3063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Border</a:t>
              </a:r>
              <a:endParaRPr lang="en-US" sz="1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DC63663D-E24E-7C13-537E-343EE1283083}"/>
                </a:ext>
              </a:extLst>
            </p:cNvPr>
            <p:cNvSpPr/>
            <p:nvPr/>
          </p:nvSpPr>
          <p:spPr>
            <a:xfrm>
              <a:off x="5715000" y="2093976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Visible line around padding &amp; content</a:t>
              </a:r>
              <a:endParaRPr lang="en-US" sz="950" dirty="0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897BAE17-7533-53AE-5F2D-8E063E2EDFAD}"/>
                </a:ext>
              </a:extLst>
            </p:cNvPr>
            <p:cNvSpPr/>
            <p:nvPr/>
          </p:nvSpPr>
          <p:spPr>
            <a:xfrm>
              <a:off x="5623560" y="2606040"/>
              <a:ext cx="3246120" cy="68580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43328F1A-C0B9-B3EC-84A3-7DAB4793EF5F}"/>
                </a:ext>
              </a:extLst>
            </p:cNvPr>
            <p:cNvSpPr/>
            <p:nvPr/>
          </p:nvSpPr>
          <p:spPr>
            <a:xfrm>
              <a:off x="5715000" y="2642616"/>
              <a:ext cx="3063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Padding</a:t>
              </a:r>
              <a:endParaRPr lang="en-US" sz="12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7E2C4E3-449D-CB6B-3E0F-15B11DA80083}"/>
                </a:ext>
              </a:extLst>
            </p:cNvPr>
            <p:cNvSpPr/>
            <p:nvPr/>
          </p:nvSpPr>
          <p:spPr>
            <a:xfrm>
              <a:off x="5715000" y="2916936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Space between border &amp; content (transparent)</a:t>
              </a:r>
              <a:endParaRPr lang="en-US" sz="950" dirty="0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85FD585A-6E0F-2AB8-004F-D3C02EF5594F}"/>
                </a:ext>
              </a:extLst>
            </p:cNvPr>
            <p:cNvSpPr/>
            <p:nvPr/>
          </p:nvSpPr>
          <p:spPr>
            <a:xfrm>
              <a:off x="5623560" y="3429000"/>
              <a:ext cx="3246120" cy="68580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5FC02D8C-6A80-5590-0D63-588852387A36}"/>
                </a:ext>
              </a:extLst>
            </p:cNvPr>
            <p:cNvSpPr/>
            <p:nvPr/>
          </p:nvSpPr>
          <p:spPr>
            <a:xfrm>
              <a:off x="5715000" y="3465576"/>
              <a:ext cx="3063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Content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22F1F21F-886D-B9F7-1DDC-3731C06F269E}"/>
                </a:ext>
              </a:extLst>
            </p:cNvPr>
            <p:cNvSpPr/>
            <p:nvPr/>
          </p:nvSpPr>
          <p:spPr>
            <a:xfrm>
              <a:off x="5715000" y="3739896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or images</a:t>
              </a:r>
              <a:endParaRPr lang="en-US" sz="9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4E4B48-7DFF-82F0-2B40-17A27D083403}"/>
              </a:ext>
            </a:extLst>
          </p:cNvPr>
          <p:cNvGrpSpPr/>
          <p:nvPr/>
        </p:nvGrpSpPr>
        <p:grpSpPr>
          <a:xfrm>
            <a:off x="469807" y="4500121"/>
            <a:ext cx="7722436" cy="311509"/>
            <a:chOff x="366240" y="4390137"/>
            <a:chExt cx="8164968" cy="502920"/>
          </a:xfrm>
        </p:grpSpPr>
        <p:sp>
          <p:nvSpPr>
            <p:cNvPr id="26" name="Shape 19">
              <a:extLst>
                <a:ext uri="{FF2B5EF4-FFF2-40B4-BE49-F238E27FC236}">
                  <a16:creationId xmlns:a16="http://schemas.microsoft.com/office/drawing/2014/main" id="{A97655C3-A846-8B62-FF5B-227F41B96AA9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882FFC2F-1738-05A2-E71A-B81654BACEF4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HTML element is a box comprising of margin, border, padding and content which can be decorated using CSS.</a:t>
              </a:r>
              <a:endParaRPr lang="en-GB" sz="11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Decorating Content and Border</a:t>
            </a:r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1915927-409A-4AA0-4DFB-DDCC69CC5E42}"/>
              </a:ext>
            </a:extLst>
          </p:cNvPr>
          <p:cNvSpPr/>
          <p:nvPr/>
        </p:nvSpPr>
        <p:spPr>
          <a:xfrm>
            <a:off x="3549960" y="1291183"/>
            <a:ext cx="4244819" cy="1549905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3A9112D-4756-E9C7-56FA-129EBD647840}"/>
              </a:ext>
            </a:extLst>
          </p:cNvPr>
          <p:cNvSpPr/>
          <p:nvPr/>
        </p:nvSpPr>
        <p:spPr>
          <a:xfrm>
            <a:off x="3549960" y="1295452"/>
            <a:ext cx="4244819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B94F36B-952E-E5EE-EC2C-0E78C5E30696}"/>
              </a:ext>
            </a:extLst>
          </p:cNvPr>
          <p:cNvSpPr/>
          <p:nvPr/>
        </p:nvSpPr>
        <p:spPr>
          <a:xfrm>
            <a:off x="3549961" y="1322885"/>
            <a:ext cx="2823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1311D9-D397-221D-9078-713714C0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3" r="2343"/>
          <a:stretch>
            <a:fillRect/>
          </a:stretch>
        </p:blipFill>
        <p:spPr>
          <a:xfrm>
            <a:off x="3672418" y="1583031"/>
            <a:ext cx="3999901" cy="7687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CD0AF7-0685-E7FB-A9D6-7F5AF2003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8" y="1452119"/>
            <a:ext cx="2223654" cy="13889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A8776C-EAA7-B6EE-F94B-B033CA9D6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78" y="2996896"/>
            <a:ext cx="2718372" cy="15163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D35E3D-ED79-B27A-DCF5-30D84D0C4BD3}"/>
              </a:ext>
            </a:extLst>
          </p:cNvPr>
          <p:cNvSpPr txBox="1"/>
          <p:nvPr/>
        </p:nvSpPr>
        <p:spPr>
          <a:xfrm>
            <a:off x="372672" y="1155280"/>
            <a:ext cx="3227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wk2example12.html</a:t>
            </a:r>
            <a:endParaRPr lang="en-SG" i="1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C9B696-7DFB-99A4-F1AD-C9A5117CF9F5}"/>
              </a:ext>
            </a:extLst>
          </p:cNvPr>
          <p:cNvGrpSpPr/>
          <p:nvPr/>
        </p:nvGrpSpPr>
        <p:grpSpPr>
          <a:xfrm>
            <a:off x="3549960" y="3443572"/>
            <a:ext cx="4244819" cy="311509"/>
            <a:chOff x="366240" y="4390137"/>
            <a:chExt cx="8164968" cy="502920"/>
          </a:xfrm>
        </p:grpSpPr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C14EF11D-285A-EF2D-70F8-542A8E5D5E8D}"/>
                </a:ext>
              </a:extLst>
            </p:cNvPr>
            <p:cNvSpPr/>
            <p:nvPr/>
          </p:nvSpPr>
          <p:spPr>
            <a:xfrm>
              <a:off x="366240" y="4390137"/>
              <a:ext cx="816496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1BEFA6AB-E6EA-777D-39E0-7298BEF03E5D}"/>
                </a:ext>
              </a:extLst>
            </p:cNvPr>
            <p:cNvSpPr/>
            <p:nvPr/>
          </p:nvSpPr>
          <p:spPr>
            <a:xfrm>
              <a:off x="439392" y="4481577"/>
              <a:ext cx="79991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 “margin: auto” centres the div element horizontally.</a:t>
              </a:r>
              <a:endParaRPr lang="en-GB" sz="11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Decorating Border</a:t>
            </a:r>
            <a:endParaRPr dirty="0"/>
          </a:p>
        </p:txBody>
      </p:sp>
      <p:sp>
        <p:nvSpPr>
          <p:cNvPr id="260" name="Google Shape;260;p30"/>
          <p:cNvSpPr txBox="1">
            <a:spLocks noGrp="1"/>
          </p:cNvSpPr>
          <p:nvPr>
            <p:ph type="body" idx="1"/>
          </p:nvPr>
        </p:nvSpPr>
        <p:spPr>
          <a:xfrm>
            <a:off x="4587481" y="3868051"/>
            <a:ext cx="4244819" cy="98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dirty="0"/>
              <a:t>Use </a:t>
            </a:r>
            <a:r>
              <a:rPr lang="en" sz="1100" dirty="0">
                <a:solidFill>
                  <a:srgbClr val="0070C0"/>
                </a:solidFill>
              </a:rPr>
              <a:t>border-left</a:t>
            </a:r>
            <a:r>
              <a:rPr lang="en" sz="1100" dirty="0"/>
              <a:t>, </a:t>
            </a:r>
            <a:r>
              <a:rPr lang="en" sz="1100" dirty="0">
                <a:solidFill>
                  <a:srgbClr val="0070C0"/>
                </a:solidFill>
              </a:rPr>
              <a:t>border-right</a:t>
            </a:r>
            <a:r>
              <a:rPr lang="en" sz="1100" dirty="0"/>
              <a:t>, </a:t>
            </a:r>
            <a:r>
              <a:rPr lang="en" sz="1100" dirty="0">
                <a:solidFill>
                  <a:srgbClr val="0070C0"/>
                </a:solidFill>
              </a:rPr>
              <a:t>border-top</a:t>
            </a:r>
            <a:r>
              <a:rPr lang="en" sz="1100" dirty="0"/>
              <a:t>, </a:t>
            </a:r>
            <a:r>
              <a:rPr lang="en" sz="1100" dirty="0">
                <a:solidFill>
                  <a:srgbClr val="0070C0"/>
                </a:solidFill>
              </a:rPr>
              <a:t>border-bottom</a:t>
            </a:r>
            <a:r>
              <a:rPr lang="en" sz="1100" dirty="0"/>
              <a:t> properties to specifically style the left, right, top, or bottom of a border separately. 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dirty="0"/>
              <a:t>Use </a:t>
            </a:r>
            <a:r>
              <a:rPr lang="en" sz="1100" dirty="0">
                <a:solidFill>
                  <a:srgbClr val="0070C0"/>
                </a:solidFill>
              </a:rPr>
              <a:t>border-radius</a:t>
            </a:r>
            <a:r>
              <a:rPr lang="en" sz="1100" dirty="0"/>
              <a:t> to created rounded corners. You can specify different border radius for the 4 corners.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1600"/>
              </a:spcAft>
              <a:buSzPts val="1400"/>
              <a:buNone/>
            </a:pPr>
            <a:endParaRPr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5615D-F163-CB04-2736-CC1E808F6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" y="1473884"/>
            <a:ext cx="4071042" cy="3305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D4BC7A-7D51-BDFD-7382-10A56C44F3DE}"/>
              </a:ext>
            </a:extLst>
          </p:cNvPr>
          <p:cNvSpPr txBox="1"/>
          <p:nvPr/>
        </p:nvSpPr>
        <p:spPr>
          <a:xfrm>
            <a:off x="413577" y="115075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wk2example13.html</a:t>
            </a:r>
            <a:endParaRPr lang="en-SG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1545E5A-7E8D-54AD-67EC-1ED0DA19C0F9}"/>
              </a:ext>
            </a:extLst>
          </p:cNvPr>
          <p:cNvSpPr/>
          <p:nvPr/>
        </p:nvSpPr>
        <p:spPr>
          <a:xfrm>
            <a:off x="4587481" y="1473336"/>
            <a:ext cx="4244819" cy="2495994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FA8CEB5-FDC9-BEFB-3C50-970326F88751}"/>
              </a:ext>
            </a:extLst>
          </p:cNvPr>
          <p:cNvSpPr/>
          <p:nvPr/>
        </p:nvSpPr>
        <p:spPr>
          <a:xfrm>
            <a:off x="4587481" y="1477605"/>
            <a:ext cx="4244819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06DF858-1DA3-27DB-8BD8-13493FE97877}"/>
              </a:ext>
            </a:extLst>
          </p:cNvPr>
          <p:cNvSpPr/>
          <p:nvPr/>
        </p:nvSpPr>
        <p:spPr>
          <a:xfrm>
            <a:off x="4587481" y="1497992"/>
            <a:ext cx="2823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19D422-6835-9D92-05C2-E9E40A617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859" y="1826208"/>
            <a:ext cx="2945714" cy="198081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Decorating Margin</a:t>
            </a:r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body" idx="1"/>
          </p:nvPr>
        </p:nvSpPr>
        <p:spPr>
          <a:xfrm>
            <a:off x="6117780" y="1346906"/>
            <a:ext cx="2865860" cy="309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000" dirty="0"/>
              <a:t>Use margin-top, margin-right, margin-bottom, margin-left properties to create space around (top, right, bottom, and left) an element’s content, outside of its border.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1000" dirty="0"/>
              <a:t>Additionally, property values can be specified with the following.</a:t>
            </a:r>
          </a:p>
          <a:p>
            <a:pPr lvl="0">
              <a:spcBef>
                <a:spcPts val="600"/>
              </a:spcBef>
            </a:pPr>
            <a:r>
              <a:rPr lang="en-US" sz="1000" dirty="0"/>
              <a:t>auto - horizontally center the element within its container</a:t>
            </a:r>
          </a:p>
          <a:p>
            <a:pPr lvl="0"/>
            <a:r>
              <a:rPr lang="en-US" sz="1000" dirty="0"/>
              <a:t>length - specifies a margin in </a:t>
            </a:r>
            <a:r>
              <a:rPr lang="en-US" sz="1000" dirty="0" err="1"/>
              <a:t>px</a:t>
            </a:r>
            <a:r>
              <a:rPr lang="en-US" sz="1000" dirty="0"/>
              <a:t>, pt, cm, etc.</a:t>
            </a:r>
          </a:p>
          <a:p>
            <a:pPr lvl="0"/>
            <a:r>
              <a:rPr lang="en-US" sz="1000" dirty="0"/>
              <a:t>% - specifies a margin in % of the width of the containing element</a:t>
            </a:r>
          </a:p>
          <a:p>
            <a:pPr lvl="0"/>
            <a:r>
              <a:rPr lang="en-US" sz="1000" dirty="0"/>
              <a:t>inherit - specifies that the margin should be inherited from the parent element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000"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1600"/>
              </a:spcAft>
              <a:buSzPts val="1400"/>
              <a:buNone/>
            </a:pPr>
            <a:endParaRPr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716E7-825D-38FE-F65B-F6111928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2" y="1532777"/>
            <a:ext cx="2266116" cy="3202260"/>
          </a:xfrm>
          <a:prstGeom prst="rect">
            <a:avLst/>
          </a:prstGeom>
        </p:spPr>
      </p:pic>
      <p:sp>
        <p:nvSpPr>
          <p:cNvPr id="6" name="Shape 7">
            <a:extLst>
              <a:ext uri="{FF2B5EF4-FFF2-40B4-BE49-F238E27FC236}">
                <a16:creationId xmlns:a16="http://schemas.microsoft.com/office/drawing/2014/main" id="{4ACF4516-3596-8817-09D1-CC369D13F664}"/>
              </a:ext>
            </a:extLst>
          </p:cNvPr>
          <p:cNvSpPr/>
          <p:nvPr/>
        </p:nvSpPr>
        <p:spPr>
          <a:xfrm>
            <a:off x="2890301" y="1532777"/>
            <a:ext cx="3189449" cy="2495994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C2F0291-63E0-222E-6CED-495D494D1A55}"/>
              </a:ext>
            </a:extLst>
          </p:cNvPr>
          <p:cNvSpPr/>
          <p:nvPr/>
        </p:nvSpPr>
        <p:spPr>
          <a:xfrm>
            <a:off x="2890301" y="1537046"/>
            <a:ext cx="3189449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2D3FEFF-C676-B685-87EA-4E5431DA5389}"/>
              </a:ext>
            </a:extLst>
          </p:cNvPr>
          <p:cNvSpPr/>
          <p:nvPr/>
        </p:nvSpPr>
        <p:spPr>
          <a:xfrm>
            <a:off x="2890301" y="1557433"/>
            <a:ext cx="2823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1381" y="1859898"/>
            <a:ext cx="1057275" cy="213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D47EF39-0EE9-7715-0F50-D87BF0B460B2}"/>
              </a:ext>
            </a:extLst>
          </p:cNvPr>
          <p:cNvGrpSpPr/>
          <p:nvPr/>
        </p:nvGrpSpPr>
        <p:grpSpPr>
          <a:xfrm>
            <a:off x="2890301" y="4423528"/>
            <a:ext cx="6093339" cy="311509"/>
            <a:chOff x="366240" y="4390137"/>
            <a:chExt cx="11429517" cy="502920"/>
          </a:xfrm>
        </p:grpSpPr>
        <p:sp>
          <p:nvSpPr>
            <p:cNvPr id="10" name="Shape 19">
              <a:extLst>
                <a:ext uri="{FF2B5EF4-FFF2-40B4-BE49-F238E27FC236}">
                  <a16:creationId xmlns:a16="http://schemas.microsoft.com/office/drawing/2014/main" id="{EE018471-AD3D-CAB0-A8A7-6D6B6EBD6BA4}"/>
                </a:ext>
              </a:extLst>
            </p:cNvPr>
            <p:cNvSpPr/>
            <p:nvPr/>
          </p:nvSpPr>
          <p:spPr>
            <a:xfrm>
              <a:off x="366240" y="4390137"/>
              <a:ext cx="11429517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6F20C201-C84C-A2BA-E577-E7E6944B0F16}"/>
                </a:ext>
              </a:extLst>
            </p:cNvPr>
            <p:cNvSpPr/>
            <p:nvPr/>
          </p:nvSpPr>
          <p:spPr>
            <a:xfrm>
              <a:off x="439391" y="4481577"/>
              <a:ext cx="1135636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 “margin: 30px 50px” achieves the same effect as “margin: 30px 50px 30px 50px”.</a:t>
              </a:r>
              <a:endParaRPr lang="en-GB" sz="11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9CD1170-EE5D-81B7-E231-8594C4817D73}"/>
              </a:ext>
            </a:extLst>
          </p:cNvPr>
          <p:cNvSpPr txBox="1"/>
          <p:nvPr/>
        </p:nvSpPr>
        <p:spPr>
          <a:xfrm>
            <a:off x="429492" y="1193018"/>
            <a:ext cx="2191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wk2example14.html</a:t>
            </a:r>
            <a:endParaRPr lang="en-SG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Decorating Padding</a:t>
            </a:r>
            <a:endParaRPr dirty="0"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1"/>
          </p:nvPr>
        </p:nvSpPr>
        <p:spPr>
          <a:xfrm>
            <a:off x="6248342" y="1387889"/>
            <a:ext cx="2583957" cy="195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Use </a:t>
            </a:r>
            <a:r>
              <a:rPr lang="en" dirty="0">
                <a:solidFill>
                  <a:srgbClr val="0070C0"/>
                </a:solidFill>
              </a:rPr>
              <a:t>padding-top</a:t>
            </a:r>
            <a:r>
              <a:rPr lang="en" dirty="0"/>
              <a:t>, </a:t>
            </a:r>
            <a:r>
              <a:rPr lang="en" dirty="0">
                <a:solidFill>
                  <a:srgbClr val="0070C0"/>
                </a:solidFill>
              </a:rPr>
              <a:t>padding-right</a:t>
            </a:r>
            <a:r>
              <a:rPr lang="en" dirty="0"/>
              <a:t>, </a:t>
            </a:r>
            <a:r>
              <a:rPr lang="en" dirty="0">
                <a:solidFill>
                  <a:srgbClr val="0070C0"/>
                </a:solidFill>
              </a:rPr>
              <a:t>padding-bottom</a:t>
            </a:r>
            <a:r>
              <a:rPr lang="en" dirty="0"/>
              <a:t>, </a:t>
            </a:r>
            <a:r>
              <a:rPr lang="en" dirty="0">
                <a:solidFill>
                  <a:srgbClr val="0070C0"/>
                </a:solidFill>
              </a:rPr>
              <a:t>padding-left</a:t>
            </a:r>
            <a:r>
              <a:rPr lang="en" dirty="0"/>
              <a:t> properties to generate space around an element's content, inside the border.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A7C07-2DF0-ABFB-6059-7F2BDCB6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2" y="1544366"/>
            <a:ext cx="2281526" cy="3034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4D4196-625B-A440-5A2D-795F9694E8FA}"/>
              </a:ext>
            </a:extLst>
          </p:cNvPr>
          <p:cNvSpPr txBox="1"/>
          <p:nvPr/>
        </p:nvSpPr>
        <p:spPr>
          <a:xfrm>
            <a:off x="403992" y="12252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wk2example15.html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182AA-9DAE-FC04-71AD-3242C4897E51}"/>
              </a:ext>
            </a:extLst>
          </p:cNvPr>
          <p:cNvSpPr/>
          <p:nvPr/>
        </p:nvSpPr>
        <p:spPr>
          <a:xfrm>
            <a:off x="1288473" y="3332018"/>
            <a:ext cx="1052945" cy="15932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68A5C0A-343B-9477-6330-02E1FCBE6C9A}"/>
              </a:ext>
            </a:extLst>
          </p:cNvPr>
          <p:cNvSpPr/>
          <p:nvPr/>
        </p:nvSpPr>
        <p:spPr>
          <a:xfrm>
            <a:off x="2890301" y="1532776"/>
            <a:ext cx="3189449" cy="3023055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2FF50F-2B7C-870E-8453-4309408EC9E5}"/>
              </a:ext>
            </a:extLst>
          </p:cNvPr>
          <p:cNvSpPr/>
          <p:nvPr/>
        </p:nvSpPr>
        <p:spPr>
          <a:xfrm>
            <a:off x="2890301" y="1537046"/>
            <a:ext cx="3189449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68275DD-06B6-1D8C-BECC-34D1EF5A72F9}"/>
              </a:ext>
            </a:extLst>
          </p:cNvPr>
          <p:cNvSpPr/>
          <p:nvPr/>
        </p:nvSpPr>
        <p:spPr>
          <a:xfrm>
            <a:off x="2890301" y="1557433"/>
            <a:ext cx="2823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293" name="Google Shape;29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3749" y="1840554"/>
            <a:ext cx="9525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2028-D376-165C-08F6-767980AF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Box-sizing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4658F-8462-AF3F-10A6-09E1646B3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controls </a:t>
            </a:r>
            <a:r>
              <a:rPr lang="en-GB" b="1" dirty="0"/>
              <a:t>how an element’s total size is calculated</a:t>
            </a:r>
            <a:r>
              <a:rPr lang="en-GB" dirty="0"/>
              <a:t> — whether padding and borders are </a:t>
            </a:r>
            <a:r>
              <a:rPr lang="en-GB" b="1" dirty="0"/>
              <a:t>inside</a:t>
            </a:r>
            <a:r>
              <a:rPr lang="en-GB" dirty="0"/>
              <a:t> or </a:t>
            </a:r>
            <a:r>
              <a:rPr lang="en-GB" b="1" dirty="0"/>
              <a:t>outside</a:t>
            </a:r>
            <a:r>
              <a:rPr lang="en-GB" dirty="0"/>
              <a:t> the width/height you set.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32CAC4-6E6E-6BFF-B271-72B1DB67E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076187"/>
              </p:ext>
            </p:extLst>
          </p:nvPr>
        </p:nvGraphicFramePr>
        <p:xfrm>
          <a:off x="893331" y="2761420"/>
          <a:ext cx="7357338" cy="1219200"/>
        </p:xfrm>
        <a:graphic>
          <a:graphicData uri="http://schemas.openxmlformats.org/drawingml/2006/table">
            <a:tbl>
              <a:tblPr/>
              <a:tblGrid>
                <a:gridCol w="1454660">
                  <a:extLst>
                    <a:ext uri="{9D8B030D-6E8A-4147-A177-3AD203B41FA5}">
                      <a16:colId xmlns:a16="http://schemas.microsoft.com/office/drawing/2014/main" val="4077596441"/>
                    </a:ext>
                  </a:extLst>
                </a:gridCol>
                <a:gridCol w="2331462">
                  <a:extLst>
                    <a:ext uri="{9D8B030D-6E8A-4147-A177-3AD203B41FA5}">
                      <a16:colId xmlns:a16="http://schemas.microsoft.com/office/drawing/2014/main" val="1723726857"/>
                    </a:ext>
                  </a:extLst>
                </a:gridCol>
                <a:gridCol w="3571216">
                  <a:extLst>
                    <a:ext uri="{9D8B030D-6E8A-4147-A177-3AD203B41FA5}">
                      <a16:colId xmlns:a16="http://schemas.microsoft.com/office/drawing/2014/main" val="1891089190"/>
                    </a:ext>
                  </a:extLst>
                </a:gridCol>
              </a:tblGrid>
              <a:tr h="304160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content-box </a:t>
                      </a:r>
                      <a:r>
                        <a:rPr lang="en-GB" sz="1400" i="1" dirty="0">
                          <a:solidFill>
                            <a:schemeClr val="bg1"/>
                          </a:solidFill>
                        </a:rPr>
                        <a:t>(default)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border-box </a:t>
                      </a:r>
                      <a:r>
                        <a:rPr lang="en-GB" sz="1400" i="1" dirty="0">
                          <a:solidFill>
                            <a:schemeClr val="bg1"/>
                          </a:solidFill>
                        </a:rPr>
                        <a:t>(recommended)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992169"/>
                  </a:ext>
                </a:extLst>
              </a:tr>
              <a:tr h="304160">
                <a:tc>
                  <a:txBody>
                    <a:bodyPr/>
                    <a:lstStyle/>
                    <a:p>
                      <a:r>
                        <a:rPr lang="en-GB" sz="1400" dirty="0"/>
                        <a:t>Width includes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Content only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Content + Padding + Border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49578"/>
                  </a:ext>
                </a:extLst>
              </a:tr>
              <a:tr h="304160">
                <a:tc>
                  <a:txBody>
                    <a:bodyPr/>
                    <a:lstStyle/>
                    <a:p>
                      <a:r>
                        <a:rPr lang="en-GB" sz="1400" dirty="0"/>
                        <a:t>Total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width + padding + border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width (everything included)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32607"/>
                  </a:ext>
                </a:extLst>
              </a:tr>
              <a:tr h="304160">
                <a:tc>
                  <a:txBody>
                    <a:bodyPr/>
                    <a:lstStyle/>
                    <a:p>
                      <a:r>
                        <a:rPr lang="en-GB" sz="14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May </a:t>
                      </a:r>
                      <a:r>
                        <a:rPr lang="en-GB" sz="1400" b="1" dirty="0"/>
                        <a:t>overflow</a:t>
                      </a:r>
                      <a:r>
                        <a:rPr lang="en-GB" sz="1400" dirty="0"/>
                        <a:t>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Stays within</a:t>
                      </a:r>
                      <a:r>
                        <a:rPr lang="en-GB" sz="1400" dirty="0"/>
                        <a:t> set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16634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3290549-751B-960A-D2FB-523BF725C032}"/>
              </a:ext>
            </a:extLst>
          </p:cNvPr>
          <p:cNvGrpSpPr/>
          <p:nvPr/>
        </p:nvGrpSpPr>
        <p:grpSpPr>
          <a:xfrm>
            <a:off x="2972464" y="4267716"/>
            <a:ext cx="2929571" cy="311509"/>
            <a:chOff x="-1498574" y="4390137"/>
            <a:chExt cx="11429519" cy="502920"/>
          </a:xfrm>
        </p:grpSpPr>
        <p:sp>
          <p:nvSpPr>
            <p:cNvPr id="6" name="Shape 19">
              <a:extLst>
                <a:ext uri="{FF2B5EF4-FFF2-40B4-BE49-F238E27FC236}">
                  <a16:creationId xmlns:a16="http://schemas.microsoft.com/office/drawing/2014/main" id="{58CF8691-CD5D-443D-905A-2522B23A5AB7}"/>
                </a:ext>
              </a:extLst>
            </p:cNvPr>
            <p:cNvSpPr/>
            <p:nvPr/>
          </p:nvSpPr>
          <p:spPr>
            <a:xfrm>
              <a:off x="-1498574" y="4390137"/>
              <a:ext cx="11429518" cy="50292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055D3D97-44E8-5FCF-0E4E-A7F9B0CCE63E}"/>
                </a:ext>
              </a:extLst>
            </p:cNvPr>
            <p:cNvSpPr/>
            <p:nvPr/>
          </p:nvSpPr>
          <p:spPr>
            <a:xfrm>
              <a:off x="-1425422" y="4481577"/>
              <a:ext cx="11356367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Video to further explain </a:t>
              </a:r>
              <a:r>
                <a:rPr lang="en-GB" sz="1200" dirty="0">
                  <a:hlinkClick r:id="rId2"/>
                </a:rPr>
                <a:t>box-sizing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GB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3414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Exercise 4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Modify the internal style sheet in ex4.html to make it looks as close as possible to the ones on the right.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Images are in the “img” folder (naruto1.jpg, naruto2.jpg).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dirty="0"/>
              <a:t>You do not have to use all the selectors if you so prefer.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AFDA7-093F-5F30-1D46-A22D093D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803" y="315925"/>
            <a:ext cx="4283497" cy="475484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Table Styling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Property</a:t>
            </a:r>
            <a:endParaRPr b="1"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border: specify border size, style (solid, dashed, dotted) and color, e.g.,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table, th, td { border: 1px dashed blue;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/>
              <a:t>Property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border-bottom: horizon dividers for &lt;th&gt; and &lt;td&gt;, e.g.,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th, td { border-bottom: 1px solid black;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</a:pP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 dirty="0"/>
              <a:t>Property </a:t>
            </a: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border-collapse: collapse into a single border, e.g.,</a:t>
            </a:r>
            <a:endParaRPr dirty="0"/>
          </a:p>
          <a:p>
            <a:pPr marL="0" lvl="0" indent="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table { border-collapse: collapse; }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lang="en" b="1"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b="1" dirty="0"/>
              <a:t>Property</a:t>
            </a: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tr:hover : highlight table rows on mouse over, e.g.,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tr:hover { background-color: red; }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0CBA-710C-5162-7943-13A5D84F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Table Styling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6EBAD-2705-B54B-29F4-DF33CEBC2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2" y="1429877"/>
            <a:ext cx="2104000" cy="2220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99A173-1469-FE55-4ED5-9779E0B2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418" y="1429877"/>
            <a:ext cx="2719482" cy="3676967"/>
          </a:xfrm>
          <a:prstGeom prst="rect">
            <a:avLst/>
          </a:prstGeom>
        </p:spPr>
      </p:pic>
      <p:sp>
        <p:nvSpPr>
          <p:cNvPr id="9" name="Shape 7">
            <a:extLst>
              <a:ext uri="{FF2B5EF4-FFF2-40B4-BE49-F238E27FC236}">
                <a16:creationId xmlns:a16="http://schemas.microsoft.com/office/drawing/2014/main" id="{BAEED2AD-8743-6788-9045-46A9B71D9209}"/>
              </a:ext>
            </a:extLst>
          </p:cNvPr>
          <p:cNvSpPr/>
          <p:nvPr/>
        </p:nvSpPr>
        <p:spPr>
          <a:xfrm>
            <a:off x="5642851" y="1429877"/>
            <a:ext cx="3189449" cy="3023055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6ADA956-A33A-EE73-1D71-D8B004120107}"/>
              </a:ext>
            </a:extLst>
          </p:cNvPr>
          <p:cNvSpPr/>
          <p:nvPr/>
        </p:nvSpPr>
        <p:spPr>
          <a:xfrm>
            <a:off x="5642851" y="1434147"/>
            <a:ext cx="3189449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B6481FF-CF74-9378-30CA-422A387CCA97}"/>
              </a:ext>
            </a:extLst>
          </p:cNvPr>
          <p:cNvSpPr/>
          <p:nvPr/>
        </p:nvSpPr>
        <p:spPr>
          <a:xfrm>
            <a:off x="5642851" y="1454534"/>
            <a:ext cx="282314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F3F65C-9072-356E-242C-C7FB3AF75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07" y="1938354"/>
            <a:ext cx="2882936" cy="21682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C06689-2A96-1200-649F-7E5EA260BC0F}"/>
              </a:ext>
            </a:extLst>
          </p:cNvPr>
          <p:cNvSpPr txBox="1"/>
          <p:nvPr/>
        </p:nvSpPr>
        <p:spPr>
          <a:xfrm>
            <a:off x="436418" y="11221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wk2example16.html</a:t>
            </a:r>
            <a:endParaRPr lang="en-S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703287-7703-2683-22D8-47615B08D9ED}"/>
              </a:ext>
            </a:extLst>
          </p:cNvPr>
          <p:cNvSpPr/>
          <p:nvPr/>
        </p:nvSpPr>
        <p:spPr>
          <a:xfrm>
            <a:off x="637309" y="3200400"/>
            <a:ext cx="1884158" cy="36714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BA232-1B87-5081-F0D9-879FF9D794CB}"/>
              </a:ext>
            </a:extLst>
          </p:cNvPr>
          <p:cNvSpPr txBox="1"/>
          <p:nvPr/>
        </p:nvSpPr>
        <p:spPr>
          <a:xfrm>
            <a:off x="465162" y="3906982"/>
            <a:ext cx="1197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solidFill>
                  <a:srgbClr val="00B050"/>
                </a:solidFill>
              </a:rPr>
              <a:t>Mouse over effect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D24D5C-4945-2052-E122-CEA9EDA8D863}"/>
              </a:ext>
            </a:extLst>
          </p:cNvPr>
          <p:cNvCxnSpPr>
            <a:stCxn id="18" idx="0"/>
            <a:endCxn id="6" idx="2"/>
          </p:cNvCxnSpPr>
          <p:nvPr/>
        </p:nvCxnSpPr>
        <p:spPr>
          <a:xfrm flipV="1">
            <a:off x="1064044" y="3567545"/>
            <a:ext cx="515344" cy="33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58DBB0-AE52-D121-E829-3BBD6C2990F1}"/>
              </a:ext>
            </a:extLst>
          </p:cNvPr>
          <p:cNvCxnSpPr>
            <a:stCxn id="18" idx="3"/>
          </p:cNvCxnSpPr>
          <p:nvPr/>
        </p:nvCxnSpPr>
        <p:spPr>
          <a:xfrm flipV="1">
            <a:off x="1662926" y="3311236"/>
            <a:ext cx="4197547" cy="718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216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Exercise 5: </a:t>
            </a:r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/>
              <a:t>Given ex5.html, provide an external CSS style sheet named ex5.css so that the page looks like the one below. </a:t>
            </a:r>
            <a:r>
              <a:rPr lang="en" dirty="0"/>
              <a:t>Note that the table stretches to the full width of the page. Do not worry about the exact color.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5629E-C351-F00B-CF92-5CE295942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42" y="2203506"/>
            <a:ext cx="9144000" cy="29399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9C79A7-3DDF-0D30-F700-594695BAC658}"/>
              </a:ext>
            </a:extLst>
          </p:cNvPr>
          <p:cNvSpPr txBox="1"/>
          <p:nvPr/>
        </p:nvSpPr>
        <p:spPr>
          <a:xfrm>
            <a:off x="3043908" y="3344616"/>
            <a:ext cx="662787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SG" sz="600" dirty="0">
                <a:latin typeface="Cambria" panose="02040503050406030204" pitchFamily="18" charset="0"/>
                <a:ea typeface="Cambria" panose="02040503050406030204" pitchFamily="18" charset="0"/>
              </a:rPr>
              <a:t>40% width</a:t>
            </a:r>
            <a:endParaRPr lang="en-GB" sz="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F9330-4CE2-8B5D-FDA0-25BA1514B64D}"/>
              </a:ext>
            </a:extLst>
          </p:cNvPr>
          <p:cNvSpPr txBox="1"/>
          <p:nvPr/>
        </p:nvSpPr>
        <p:spPr>
          <a:xfrm>
            <a:off x="3508333" y="3074784"/>
            <a:ext cx="2417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5 </a:t>
            </a:r>
            <a:r>
              <a:rPr lang="en-SG" sz="900" dirty="0" err="1"/>
              <a:t>px</a:t>
            </a:r>
            <a:r>
              <a:rPr lang="en-SG" sz="900" dirty="0"/>
              <a:t> spacing for all table cells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Link Properties</a:t>
            </a:r>
            <a:endParaRPr/>
          </a:p>
        </p:txBody>
      </p:sp>
      <p:sp>
        <p:nvSpPr>
          <p:cNvPr id="335" name="Google Shape;335;p4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Links can be styled with any CSS property (e.g. color, font-family, background, etc.).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links can also be styled differently depending on what </a:t>
            </a:r>
            <a:r>
              <a:rPr lang="en" b="1">
                <a:solidFill>
                  <a:srgbClr val="002060"/>
                </a:solidFill>
              </a:rPr>
              <a:t>state</a:t>
            </a:r>
            <a:r>
              <a:rPr lang="en" b="1"/>
              <a:t> </a:t>
            </a:r>
            <a:r>
              <a:rPr lang="en"/>
              <a:t>they are in.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err="1"/>
              <a:t>a:link</a:t>
            </a:r>
            <a:r>
              <a:rPr lang="en"/>
              <a:t> - a normal, unvisited link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err="1"/>
              <a:t>a:visited</a:t>
            </a:r>
            <a:r>
              <a:rPr lang="en"/>
              <a:t> - a link the user has visited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err="1"/>
              <a:t>a:hover</a:t>
            </a:r>
            <a:r>
              <a:rPr lang="en"/>
              <a:t> - a link when the user mouses over it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err="1"/>
              <a:t>a:active</a:t>
            </a:r>
            <a:r>
              <a:rPr lang="en"/>
              <a:t> - a link at the moment it is clicked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Example: </a:t>
            </a:r>
            <a:r>
              <a:rPr lang="en" i="1"/>
              <a:t>wk2example18.html</a:t>
            </a:r>
            <a:endParaRPr i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/* unvisited link */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a:link { color: red;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/* visited link */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a:visited { color: green;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/* mouse over link */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a:hover { color: hotpink;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/* selected link */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a:active { color: blue;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List Properties</a:t>
            </a:r>
            <a:endParaRPr/>
          </a:p>
        </p:txBody>
      </p:sp>
      <p:sp>
        <p:nvSpPr>
          <p:cNvPr id="342" name="Google Shape;342;p4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List style properties can be used to style ordered lists (&lt;ul&gt;) and unordered lists (&lt;ol&gt;):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different markers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 an image as marker</a:t>
            </a:r>
            <a:endParaRPr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background colors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Example: </a:t>
            </a:r>
            <a:r>
              <a:rPr lang="en" i="1"/>
              <a:t>wk2example19.html</a:t>
            </a:r>
            <a:endParaRPr i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&lt;ul class="a"&gt;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&lt;li&gt;Coffee&lt;/li&gt;  &lt;li&gt;Tea&lt;/li&gt;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&lt;/ul&gt;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&lt;</a:t>
            </a:r>
            <a:r>
              <a:rPr lang="en" err="1"/>
              <a:t>ol</a:t>
            </a:r>
            <a:r>
              <a:rPr lang="en"/>
              <a:t> class="c"&gt;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&lt;li&gt;Coffee&lt;/li&gt; &lt;li&gt;Tea&lt;/li&gt;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&lt;/</a:t>
            </a:r>
            <a:r>
              <a:rPr lang="en" err="1"/>
              <a:t>ol</a:t>
            </a:r>
            <a:r>
              <a:rPr lang="en"/>
              <a:t>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err="1"/>
              <a:t>ul.a</a:t>
            </a:r>
            <a:r>
              <a:rPr lang="en"/>
              <a:t> {  list-style-image: </a:t>
            </a:r>
            <a:r>
              <a:rPr lang="en" err="1"/>
              <a:t>url</a:t>
            </a:r>
            <a:r>
              <a:rPr lang="en"/>
              <a:t>(`</a:t>
            </a:r>
            <a:r>
              <a:rPr lang="en" err="1"/>
              <a:t>img.png</a:t>
            </a:r>
            <a:r>
              <a:rPr lang="en"/>
              <a:t>`);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See: </a:t>
            </a:r>
            <a:r>
              <a:rPr lang="en" u="sng">
                <a:solidFill>
                  <a:schemeClr val="hlink"/>
                </a:solidFill>
                <a:hlinkClick r:id="rId3"/>
              </a:rPr>
              <a:t>Example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err="1"/>
              <a:t>ol.c</a:t>
            </a:r>
            <a:r>
              <a:rPr lang="en"/>
              <a:t> {  list-style-type: upper-roman; 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Position Properties</a:t>
            </a:r>
            <a:endParaRPr/>
          </a:p>
        </p:txBody>
      </p:sp>
      <p:sp>
        <p:nvSpPr>
          <p:cNvPr id="321" name="Google Shape;321;p38"/>
          <p:cNvSpPr/>
          <p:nvPr/>
        </p:nvSpPr>
        <p:spPr>
          <a:xfrm>
            <a:off x="6444675" y="4363125"/>
            <a:ext cx="2280900" cy="520200"/>
          </a:xfrm>
          <a:prstGeom prst="wedgeRoundRectCallout">
            <a:avLst>
              <a:gd name="adj1" fmla="val 35375"/>
              <a:gd name="adj2" fmla="val 6891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wk2example17.html</a:t>
            </a:r>
            <a:endParaRPr sz="14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" name="Google Shape;322;p38"/>
          <p:cNvGraphicFramePr/>
          <p:nvPr>
            <p:extLst>
              <p:ext uri="{D42A27DB-BD31-4B8C-83A1-F6EECF244321}">
                <p14:modId xmlns:p14="http://schemas.microsoft.com/office/powerpoint/2010/main" val="1970997761"/>
              </p:ext>
            </p:extLst>
          </p:nvPr>
        </p:nvGraphicFramePr>
        <p:xfrm>
          <a:off x="500900" y="1303575"/>
          <a:ext cx="8224650" cy="3017340"/>
        </p:xfrm>
        <a:graphic>
          <a:graphicData uri="http://schemas.openxmlformats.org/drawingml/2006/table">
            <a:tbl>
              <a:tblPr>
                <a:noFill/>
                <a:tableStyleId>{9457DA4B-BAC7-4D48-AA5B-6CF8F0DF2040}</a:tableStyleId>
              </a:tblPr>
              <a:tblGrid>
                <a:gridCol w="92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bg1"/>
                          </a:solidFill>
                        </a:rPr>
                        <a:t>Remark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static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Default value. Elements render in order, as they appear in the document flow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absolute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The element is positioned relative to its first positioned (not static) ancestor element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fixed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The element is positioned relative to the browser window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relative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The element is positioned relative to its normal position, so "left:20px" adds 20 pixels to the element's LEFT position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sticky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/>
                        <a:t>The element is positioned based on the user's scroll position. A sticky element toggles between relative and fixed, depending on the scroll position. It is positioned relative until a given offset position is met in the viewport - then it "sticks" in place (like position:fixed).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A5E0-389F-3865-28AF-666F1C8D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Relative vs Absolute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72A18-97EE-FFC2-6FC6-4B5CEC293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relative positioned element can be moved to any direction by using the properties(offset properties) such as left, right, top and bottom. And the </a:t>
            </a:r>
            <a:r>
              <a:rPr lang="en-GB" dirty="0">
                <a:solidFill>
                  <a:srgbClr val="FF0000"/>
                </a:solidFill>
              </a:rPr>
              <a:t>values provided in those properties is calculated based on the position where the element sits</a:t>
            </a:r>
            <a:r>
              <a:rPr lang="en-GB" dirty="0"/>
              <a:t>. And the </a:t>
            </a:r>
            <a:r>
              <a:rPr lang="en-GB" dirty="0">
                <a:solidFill>
                  <a:srgbClr val="FF0000"/>
                </a:solidFill>
              </a:rPr>
              <a:t>surrounding elements of a relative positioned element </a:t>
            </a:r>
            <a:r>
              <a:rPr lang="en-GB" dirty="0"/>
              <a:t>is aware of its existence in the document flow. So, they </a:t>
            </a:r>
            <a:r>
              <a:rPr lang="en-GB" dirty="0">
                <a:solidFill>
                  <a:srgbClr val="FF0000"/>
                </a:solidFill>
              </a:rPr>
              <a:t>don’t consume the space of the relative positioned element</a:t>
            </a:r>
            <a:r>
              <a:rPr lang="en-GB" dirty="0"/>
              <a:t> after it has been moved to a different position on the page.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37FDF-466B-24C8-0421-2829D73884C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GB" dirty="0"/>
              <a:t>In absolute positioned element, the </a:t>
            </a:r>
            <a:r>
              <a:rPr lang="en-GB" dirty="0">
                <a:solidFill>
                  <a:srgbClr val="FF0000"/>
                </a:solidFill>
              </a:rPr>
              <a:t>surrounding elements consume the space of the absolute positioned element</a:t>
            </a:r>
            <a:r>
              <a:rPr lang="en-GB" dirty="0"/>
              <a:t>. An absolute positioned element can be moved using properties (offset properties) such as left, right, top and bottom, but the </a:t>
            </a:r>
            <a:r>
              <a:rPr lang="en-GB" dirty="0">
                <a:solidFill>
                  <a:srgbClr val="FF0000"/>
                </a:solidFill>
              </a:rPr>
              <a:t>values provided in those properties are calculated based upon its closest ancestor’s container that has a relative position</a:t>
            </a:r>
            <a:r>
              <a:rPr lang="en-GB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69485A-5357-CADA-D857-94DBDC36B7ED}"/>
              </a:ext>
            </a:extLst>
          </p:cNvPr>
          <p:cNvGrpSpPr/>
          <p:nvPr/>
        </p:nvGrpSpPr>
        <p:grpSpPr>
          <a:xfrm>
            <a:off x="2494482" y="4501470"/>
            <a:ext cx="4910772" cy="368147"/>
            <a:chOff x="-1498574" y="4390137"/>
            <a:chExt cx="11429519" cy="594360"/>
          </a:xfrm>
        </p:grpSpPr>
        <p:sp>
          <p:nvSpPr>
            <p:cNvPr id="7" name="Shape 19">
              <a:extLst>
                <a:ext uri="{FF2B5EF4-FFF2-40B4-BE49-F238E27FC236}">
                  <a16:creationId xmlns:a16="http://schemas.microsoft.com/office/drawing/2014/main" id="{4B3EE7B7-A703-C76A-FFB6-26980F78EE8D}"/>
                </a:ext>
              </a:extLst>
            </p:cNvPr>
            <p:cNvSpPr/>
            <p:nvPr/>
          </p:nvSpPr>
          <p:spPr>
            <a:xfrm>
              <a:off x="-1498574" y="4390137"/>
              <a:ext cx="11429519" cy="59436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685B12EE-6C5C-F50B-374F-499E336CF495}"/>
                </a:ext>
              </a:extLst>
            </p:cNvPr>
            <p:cNvSpPr/>
            <p:nvPr/>
          </p:nvSpPr>
          <p:spPr>
            <a:xfrm>
              <a:off x="-1425423" y="4481577"/>
              <a:ext cx="1135636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💡</a:t>
              </a:r>
              <a:r>
                <a:rPr lang="en-SG" sz="12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Video to further explain </a:t>
              </a:r>
              <a:r>
                <a:rPr lang="en-GB" sz="1200" dirty="0">
                  <a:hlinkClick r:id="rId2"/>
                </a:rPr>
                <a:t>Relative vs Absolute</a:t>
              </a:r>
              <a:endParaRPr lang="en-GB" sz="1200" dirty="0"/>
            </a:p>
            <a:p>
              <a:endParaRPr lang="en-GB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8143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Overlapping Elements</a:t>
            </a:r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When elements are positioned, they can overlap other elements.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The z-index property specifies the stack order of an element (which element should be placed in front of, or behind, the others).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An element can have a positive or negative stack order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329" name="Google Shape;329;p39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/>
              <a:t>Example</a:t>
            </a:r>
            <a:endParaRPr b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err="1"/>
              <a:t>img</a:t>
            </a:r>
            <a:r>
              <a:rPr lang="en"/>
              <a:t> {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position: absolute;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left: 0px;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top: 0px;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z-index: -1;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}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https://www.w3schools.com/cssref/tryit.asp?filename=trycss_anim_z-index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">
            <a:extLst>
              <a:ext uri="{FF2B5EF4-FFF2-40B4-BE49-F238E27FC236}">
                <a16:creationId xmlns:a16="http://schemas.microsoft.com/office/drawing/2014/main" id="{A7C7BAF7-CD12-40B0-EE8B-DCCDF185012E}"/>
              </a:ext>
            </a:extLst>
          </p:cNvPr>
          <p:cNvSpPr/>
          <p:nvPr/>
        </p:nvSpPr>
        <p:spPr>
          <a:xfrm>
            <a:off x="4962194" y="1316531"/>
            <a:ext cx="3115006" cy="298776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8" name="Google Shape;348;p4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Styling Forms</a:t>
            </a:r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body" idx="1"/>
          </p:nvPr>
        </p:nvSpPr>
        <p:spPr>
          <a:xfrm>
            <a:off x="422537" y="3173104"/>
            <a:ext cx="3999900" cy="169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 can use various CSS properties we have learnt to improve the look of HTML forms. For styling of buttons and select menu, refer to wk2example21.html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1600"/>
              </a:spcAft>
              <a:buSzPts val="1400"/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D9B5C-9578-B5A2-DD07-E7FDA16EA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86" y="1618774"/>
            <a:ext cx="2462937" cy="1270652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4098DF32-AEB0-2595-85DE-2491529B2ECD}"/>
              </a:ext>
            </a:extLst>
          </p:cNvPr>
          <p:cNvSpPr/>
          <p:nvPr/>
        </p:nvSpPr>
        <p:spPr>
          <a:xfrm>
            <a:off x="4971958" y="1331195"/>
            <a:ext cx="3105242" cy="28757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D60BC634-2A3A-FB8E-64E7-4AE806198285}"/>
              </a:ext>
            </a:extLst>
          </p:cNvPr>
          <p:cNvSpPr/>
          <p:nvPr/>
        </p:nvSpPr>
        <p:spPr>
          <a:xfrm>
            <a:off x="4971958" y="1351582"/>
            <a:ext cx="16515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Browser Preview</a:t>
            </a:r>
            <a:endParaRPr lang="en-US" sz="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36C34-0070-DBDF-815D-7F8E8F8DA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715" y="1746749"/>
            <a:ext cx="2583964" cy="1650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93B6C9-468F-0223-C0B7-2AA6F34159F9}"/>
              </a:ext>
            </a:extLst>
          </p:cNvPr>
          <p:cNvSpPr txBox="1"/>
          <p:nvPr/>
        </p:nvSpPr>
        <p:spPr>
          <a:xfrm>
            <a:off x="422537" y="1246670"/>
            <a:ext cx="1759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wk2example20.html</a:t>
            </a:r>
            <a:endParaRPr lang="en-SG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188405-D56C-A8A8-9C2E-990E9C257572}"/>
              </a:ext>
            </a:extLst>
          </p:cNvPr>
          <p:cNvGrpSpPr/>
          <p:nvPr/>
        </p:nvGrpSpPr>
        <p:grpSpPr>
          <a:xfrm>
            <a:off x="3113279" y="1619850"/>
            <a:ext cx="1536069" cy="1359255"/>
            <a:chOff x="422537" y="1573195"/>
            <a:chExt cx="1536069" cy="13592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39FA57-EE55-FD8C-B06F-49E454831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2537" y="1573195"/>
              <a:ext cx="1536069" cy="13592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7288DC-C152-D655-3185-BEE9C6C51034}"/>
                </a:ext>
              </a:extLst>
            </p:cNvPr>
            <p:cNvSpPr/>
            <p:nvPr/>
          </p:nvSpPr>
          <p:spPr>
            <a:xfrm>
              <a:off x="824345" y="1618774"/>
              <a:ext cx="507976" cy="182317"/>
            </a:xfrm>
            <a:prstGeom prst="rect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D0A63D-F806-1E10-4E31-79D4863818FF}"/>
                </a:ext>
              </a:extLst>
            </p:cNvPr>
            <p:cNvSpPr/>
            <p:nvPr/>
          </p:nvSpPr>
          <p:spPr>
            <a:xfrm>
              <a:off x="812812" y="2260653"/>
              <a:ext cx="669624" cy="182317"/>
            </a:xfrm>
            <a:prstGeom prst="rect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ED30CB-237E-0833-614D-9A09FCCBCC88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023063" y="1756588"/>
            <a:ext cx="1262446" cy="5600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21DA4A-18B9-E869-8C20-D8D2DB5EDDAB}"/>
              </a:ext>
            </a:extLst>
          </p:cNvPr>
          <p:cNvCxnSpPr>
            <a:cxnSpLocks/>
          </p:cNvCxnSpPr>
          <p:nvPr/>
        </p:nvCxnSpPr>
        <p:spPr>
          <a:xfrm>
            <a:off x="4023063" y="1746749"/>
            <a:ext cx="1262446" cy="9469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C8331E-34D3-2D8E-4B01-4034E61A9D5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173178" y="2398467"/>
            <a:ext cx="1465622" cy="5904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Exercise 6</a:t>
            </a:r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The Ex6 folder contains three webpages: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Home – mainly text based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Register – a registration form for a user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Feedback – a form which allows a user to submit feedback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Beautify these pages (the best you can) with the help of internal/external style sheets. You are free to add in pictures too.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dirty="0"/>
              <a:t>Your pages do not have to look like the ones on the right.</a:t>
            </a:r>
            <a:endParaRPr dirty="0"/>
          </a:p>
        </p:txBody>
      </p:sp>
      <p:pic>
        <p:nvPicPr>
          <p:cNvPr id="364" name="Google Shape;36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0675" y="1968775"/>
            <a:ext cx="33432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5938" y="773900"/>
            <a:ext cx="28194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0188" y="1299625"/>
            <a:ext cx="35337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3244-3243-030D-4F14-EA9287B9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Flexbox – Core concept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3EFB55-C2A1-4106-C220-8CB0F8F6BF85}"/>
              </a:ext>
            </a:extLst>
          </p:cNvPr>
          <p:cNvSpPr/>
          <p:nvPr/>
        </p:nvSpPr>
        <p:spPr>
          <a:xfrm>
            <a:off x="320040" y="1188720"/>
            <a:ext cx="44805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EB7A0B-0AB5-195B-40A9-E4748E1A2816}"/>
              </a:ext>
            </a:extLst>
          </p:cNvPr>
          <p:cNvSpPr/>
          <p:nvPr/>
        </p:nvSpPr>
        <p:spPr>
          <a:xfrm>
            <a:off x="393192" y="1261872"/>
            <a:ext cx="4334256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flex;           /* Enable Flexbox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row;     /* row | column | row-reverse | column-reverse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center; /* align along main axis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center;     /* align along cross axis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16px;               /* space between children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wrap;         /* allow wrapping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86DA67-9099-BD89-9657-B8B3C0A46AA5}"/>
              </a:ext>
            </a:extLst>
          </p:cNvPr>
          <p:cNvSpPr/>
          <p:nvPr/>
        </p:nvSpPr>
        <p:spPr>
          <a:xfrm>
            <a:off x="4937760" y="1188720"/>
            <a:ext cx="3931920" cy="1920240"/>
          </a:xfrm>
          <a:prstGeom prst="rect">
            <a:avLst/>
          </a:prstGeom>
          <a:solidFill>
            <a:srgbClr val="F3E8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DE6B035-5C1B-5A05-ECCC-A6FF02576F0F}"/>
              </a:ext>
            </a:extLst>
          </p:cNvPr>
          <p:cNvSpPr/>
          <p:nvPr/>
        </p:nvSpPr>
        <p:spPr>
          <a:xfrm>
            <a:off x="5029200" y="1207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 { display: flex; }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B8CAA6-19EA-B8E9-5BE4-AF74363825FE}"/>
              </a:ext>
            </a:extLst>
          </p:cNvPr>
          <p:cNvSpPr/>
          <p:nvPr/>
        </p:nvSpPr>
        <p:spPr>
          <a:xfrm>
            <a:off x="5074920" y="1554480"/>
            <a:ext cx="73152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48224F-A812-69A9-5AAC-62563EDDD0E6}"/>
              </a:ext>
            </a:extLst>
          </p:cNvPr>
          <p:cNvSpPr/>
          <p:nvPr/>
        </p:nvSpPr>
        <p:spPr>
          <a:xfrm>
            <a:off x="5074920" y="1554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FDA816D-7B06-DFFB-6807-CAB640BA622D}"/>
              </a:ext>
            </a:extLst>
          </p:cNvPr>
          <p:cNvSpPr/>
          <p:nvPr/>
        </p:nvSpPr>
        <p:spPr>
          <a:xfrm>
            <a:off x="5934456" y="1554480"/>
            <a:ext cx="731520" cy="6858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792B6C-3F3C-BA57-1D51-31CE3A42A801}"/>
              </a:ext>
            </a:extLst>
          </p:cNvPr>
          <p:cNvSpPr/>
          <p:nvPr/>
        </p:nvSpPr>
        <p:spPr>
          <a:xfrm>
            <a:off x="5934456" y="1554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1DAF74-BB3C-11F6-2FCA-484F88BF1AE4}"/>
              </a:ext>
            </a:extLst>
          </p:cNvPr>
          <p:cNvSpPr/>
          <p:nvPr/>
        </p:nvSpPr>
        <p:spPr>
          <a:xfrm>
            <a:off x="6793992" y="1554480"/>
            <a:ext cx="731520" cy="6858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A47A44-5145-C74D-B1E9-DD67EB1EF45C}"/>
              </a:ext>
            </a:extLst>
          </p:cNvPr>
          <p:cNvSpPr/>
          <p:nvPr/>
        </p:nvSpPr>
        <p:spPr>
          <a:xfrm>
            <a:off x="6793992" y="1554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6C5F246-63DC-F7F1-1EDE-8857D01708E3}"/>
              </a:ext>
            </a:extLst>
          </p:cNvPr>
          <p:cNvSpPr/>
          <p:nvPr/>
        </p:nvSpPr>
        <p:spPr>
          <a:xfrm>
            <a:off x="7653528" y="1554480"/>
            <a:ext cx="731520" cy="685800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09D77B-D5C1-8CFA-4B65-F2067921ABBC}"/>
              </a:ext>
            </a:extLst>
          </p:cNvPr>
          <p:cNvSpPr/>
          <p:nvPr/>
        </p:nvSpPr>
        <p:spPr>
          <a:xfrm>
            <a:off x="7653528" y="15544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9ECF4F-00AA-F68C-CF02-5F70F099EAC5}"/>
              </a:ext>
            </a:extLst>
          </p:cNvPr>
          <p:cNvSpPr/>
          <p:nvPr/>
        </p:nvSpPr>
        <p:spPr>
          <a:xfrm>
            <a:off x="493776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Items flow in a row (flex-direction: row)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DE3B753-9896-E9D4-C76A-1A6AE5EDAE5C}"/>
              </a:ext>
            </a:extLst>
          </p:cNvPr>
          <p:cNvSpPr/>
          <p:nvPr/>
        </p:nvSpPr>
        <p:spPr>
          <a:xfrm>
            <a:off x="320040" y="3246120"/>
            <a:ext cx="2377440" cy="301752"/>
          </a:xfrm>
          <a:prstGeom prst="rect">
            <a:avLst/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DAFE626-E56D-9F7C-5CE5-6AC5AFFF87EA}"/>
              </a:ext>
            </a:extLst>
          </p:cNvPr>
          <p:cNvSpPr/>
          <p:nvPr/>
        </p:nvSpPr>
        <p:spPr>
          <a:xfrm>
            <a:off x="384048" y="328269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B8A0AA9-E27D-E742-3B9D-091CF552FB54}"/>
              </a:ext>
            </a:extLst>
          </p:cNvPr>
          <p:cNvSpPr/>
          <p:nvPr/>
        </p:nvSpPr>
        <p:spPr>
          <a:xfrm>
            <a:off x="2743200" y="3246120"/>
            <a:ext cx="612648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C3290C-9436-4E5A-78DF-BC49C92A2E18}"/>
              </a:ext>
            </a:extLst>
          </p:cNvPr>
          <p:cNvSpPr/>
          <p:nvPr/>
        </p:nvSpPr>
        <p:spPr>
          <a:xfrm>
            <a:off x="2816352" y="3282696"/>
            <a:ext cx="5989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 | center | flex-end | space-between | space-around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2F95B32-8125-5088-CEA7-50A412E471B4}"/>
              </a:ext>
            </a:extLst>
          </p:cNvPr>
          <p:cNvSpPr/>
          <p:nvPr/>
        </p:nvSpPr>
        <p:spPr>
          <a:xfrm>
            <a:off x="320040" y="3593592"/>
            <a:ext cx="2377440" cy="301752"/>
          </a:xfrm>
          <a:prstGeom prst="rect">
            <a:avLst/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05CEBDB-1012-8A56-27EC-EEFA51F08535}"/>
              </a:ext>
            </a:extLst>
          </p:cNvPr>
          <p:cNvSpPr/>
          <p:nvPr/>
        </p:nvSpPr>
        <p:spPr>
          <a:xfrm>
            <a:off x="384048" y="363016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081D08F-5C2B-9FDB-CEEC-8E5B05EC1050}"/>
              </a:ext>
            </a:extLst>
          </p:cNvPr>
          <p:cNvSpPr/>
          <p:nvPr/>
        </p:nvSpPr>
        <p:spPr>
          <a:xfrm>
            <a:off x="2743200" y="3593592"/>
            <a:ext cx="612648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12BFCD-24D5-9151-1D78-420D1D8B4A29}"/>
              </a:ext>
            </a:extLst>
          </p:cNvPr>
          <p:cNvSpPr/>
          <p:nvPr/>
        </p:nvSpPr>
        <p:spPr>
          <a:xfrm>
            <a:off x="2816352" y="3630168"/>
            <a:ext cx="5989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 | center | flex-end | stretch | baseline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9FF9B30-35E2-F2B0-FBD3-2FF98B0B3C65}"/>
              </a:ext>
            </a:extLst>
          </p:cNvPr>
          <p:cNvSpPr/>
          <p:nvPr/>
        </p:nvSpPr>
        <p:spPr>
          <a:xfrm>
            <a:off x="320040" y="3941064"/>
            <a:ext cx="2377440" cy="301752"/>
          </a:xfrm>
          <a:prstGeom prst="rect">
            <a:avLst/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7BB663C-6901-B4A4-C4B8-F39EE337A8A0}"/>
              </a:ext>
            </a:extLst>
          </p:cNvPr>
          <p:cNvSpPr/>
          <p:nvPr/>
        </p:nvSpPr>
        <p:spPr>
          <a:xfrm>
            <a:off x="384048" y="39776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endParaRPr lang="en-US" sz="9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CAAA92C-9A3F-6F6A-22BE-62CCA451EC02}"/>
              </a:ext>
            </a:extLst>
          </p:cNvPr>
          <p:cNvSpPr/>
          <p:nvPr/>
        </p:nvSpPr>
        <p:spPr>
          <a:xfrm>
            <a:off x="2743200" y="3941064"/>
            <a:ext cx="612648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0BCAABF-41A4-3182-D119-BEEE932E534D}"/>
              </a:ext>
            </a:extLst>
          </p:cNvPr>
          <p:cNvSpPr/>
          <p:nvPr/>
        </p:nvSpPr>
        <p:spPr>
          <a:xfrm>
            <a:off x="2816352" y="3977640"/>
            <a:ext cx="5989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| column | row-reverse | column-reverse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6986C83-3526-BD5A-4C97-4B0359847558}"/>
              </a:ext>
            </a:extLst>
          </p:cNvPr>
          <p:cNvSpPr/>
          <p:nvPr/>
        </p:nvSpPr>
        <p:spPr>
          <a:xfrm>
            <a:off x="320040" y="4288536"/>
            <a:ext cx="2377440" cy="301752"/>
          </a:xfrm>
          <a:prstGeom prst="rect">
            <a:avLst/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72DF13-A2BB-728D-6B5A-9D2B2D4FB36F}"/>
              </a:ext>
            </a:extLst>
          </p:cNvPr>
          <p:cNvSpPr/>
          <p:nvPr/>
        </p:nvSpPr>
        <p:spPr>
          <a:xfrm>
            <a:off x="384048" y="43251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DF8BD0F-9B39-8683-C846-57400F0CE5BD}"/>
              </a:ext>
            </a:extLst>
          </p:cNvPr>
          <p:cNvSpPr/>
          <p:nvPr/>
        </p:nvSpPr>
        <p:spPr>
          <a:xfrm>
            <a:off x="2743200" y="4288536"/>
            <a:ext cx="612648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61403CD-C1BC-6269-FBFE-C52D7E7DE3AF}"/>
              </a:ext>
            </a:extLst>
          </p:cNvPr>
          <p:cNvSpPr/>
          <p:nvPr/>
        </p:nvSpPr>
        <p:spPr>
          <a:xfrm>
            <a:off x="2816352" y="4325112"/>
            <a:ext cx="5989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nowrap | wrap | wrap-reverse</a:t>
            </a:r>
            <a:endParaRPr lang="en-US" sz="9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8495E82-4FBD-26DA-4F73-8E1467FD1FD7}"/>
              </a:ext>
            </a:extLst>
          </p:cNvPr>
          <p:cNvSpPr/>
          <p:nvPr/>
        </p:nvSpPr>
        <p:spPr>
          <a:xfrm>
            <a:off x="320040" y="4636008"/>
            <a:ext cx="2377440" cy="301752"/>
          </a:xfrm>
          <a:prstGeom prst="rect">
            <a:avLst/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0DEAD5D-DB31-24D5-849C-57E0AAC3FCBA}"/>
              </a:ext>
            </a:extLst>
          </p:cNvPr>
          <p:cNvSpPr/>
          <p:nvPr/>
        </p:nvSpPr>
        <p:spPr>
          <a:xfrm>
            <a:off x="384048" y="467258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(on child)</a:t>
            </a: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5F833D2-201A-8CA6-0C2C-3905541CBC17}"/>
              </a:ext>
            </a:extLst>
          </p:cNvPr>
          <p:cNvSpPr/>
          <p:nvPr/>
        </p:nvSpPr>
        <p:spPr>
          <a:xfrm>
            <a:off x="2743200" y="4636008"/>
            <a:ext cx="6126480" cy="3017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A11C7A-1C20-DD2D-3382-62E32FCE7B68}"/>
              </a:ext>
            </a:extLst>
          </p:cNvPr>
          <p:cNvSpPr/>
          <p:nvPr/>
        </p:nvSpPr>
        <p:spPr>
          <a:xfrm>
            <a:off x="2816352" y="4672584"/>
            <a:ext cx="5989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  →  takes equal share of remaining space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48657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CE2D-BFA4-F8FF-7F43-44F02C24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256523"/>
            <a:ext cx="8520600" cy="831300"/>
          </a:xfrm>
        </p:spPr>
        <p:txBody>
          <a:bodyPr/>
          <a:lstStyle/>
          <a:p>
            <a:r>
              <a:rPr lang="en-SG" dirty="0"/>
              <a:t>Flexbox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43415F4-B5A6-65C9-B0F0-9FD9948AFBF8}"/>
              </a:ext>
            </a:extLst>
          </p:cNvPr>
          <p:cNvGrpSpPr/>
          <p:nvPr/>
        </p:nvGrpSpPr>
        <p:grpSpPr>
          <a:xfrm>
            <a:off x="684414" y="1270768"/>
            <a:ext cx="7775171" cy="3800271"/>
            <a:chOff x="320040" y="822960"/>
            <a:chExt cx="8549640" cy="417880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70C510E-050E-4F77-5640-01BE389EEB99}"/>
                </a:ext>
              </a:extLst>
            </p:cNvPr>
            <p:cNvSpPr/>
            <p:nvPr/>
          </p:nvSpPr>
          <p:spPr>
            <a:xfrm>
              <a:off x="320040" y="822960"/>
              <a:ext cx="2743200" cy="96012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86A5338F-72F0-B44C-E6C3-33F85AF731AD}"/>
                </a:ext>
              </a:extLst>
            </p:cNvPr>
            <p:cNvSpPr/>
            <p:nvPr/>
          </p:nvSpPr>
          <p:spPr>
            <a:xfrm>
              <a:off x="320040" y="17830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flex-start</a:t>
              </a:r>
              <a:endParaRPr lang="en-US" sz="900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55B6812B-3DED-7E2C-2A54-37CCD72B48E2}"/>
                </a:ext>
              </a:extLst>
            </p:cNvPr>
            <p:cNvSpPr/>
            <p:nvPr/>
          </p:nvSpPr>
          <p:spPr>
            <a:xfrm>
              <a:off x="374904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3E324A5B-EDD4-F900-7199-81191237BC73}"/>
                </a:ext>
              </a:extLst>
            </p:cNvPr>
            <p:cNvSpPr/>
            <p:nvPr/>
          </p:nvSpPr>
          <p:spPr>
            <a:xfrm>
              <a:off x="374904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D98597B0-30C3-3205-898A-3C4C4D1177C0}"/>
                </a:ext>
              </a:extLst>
            </p:cNvPr>
            <p:cNvSpPr/>
            <p:nvPr/>
          </p:nvSpPr>
          <p:spPr>
            <a:xfrm>
              <a:off x="813816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F91CFE68-298C-8244-9BBF-3D5A3F94D9FA}"/>
                </a:ext>
              </a:extLst>
            </p:cNvPr>
            <p:cNvSpPr/>
            <p:nvPr/>
          </p:nvSpPr>
          <p:spPr>
            <a:xfrm>
              <a:off x="813816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20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70023121-72B3-F6CF-3EB7-F33EFC516491}"/>
                </a:ext>
              </a:extLst>
            </p:cNvPr>
            <p:cNvSpPr/>
            <p:nvPr/>
          </p:nvSpPr>
          <p:spPr>
            <a:xfrm>
              <a:off x="1252728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DB218AC8-251C-14CE-C8DB-F545B34733E9}"/>
                </a:ext>
              </a:extLst>
            </p:cNvPr>
            <p:cNvSpPr/>
            <p:nvPr/>
          </p:nvSpPr>
          <p:spPr>
            <a:xfrm>
              <a:off x="1252728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8AF4C874-7E27-AFC9-D7F8-17819F107521}"/>
                </a:ext>
              </a:extLst>
            </p:cNvPr>
            <p:cNvSpPr/>
            <p:nvPr/>
          </p:nvSpPr>
          <p:spPr>
            <a:xfrm>
              <a:off x="3154680" y="822960"/>
              <a:ext cx="2743200" cy="96012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5FF21745-F6AE-E2FC-296C-238D35D21FDD}"/>
                </a:ext>
              </a:extLst>
            </p:cNvPr>
            <p:cNvSpPr/>
            <p:nvPr/>
          </p:nvSpPr>
          <p:spPr>
            <a:xfrm>
              <a:off x="3154680" y="17830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center</a:t>
              </a:r>
              <a:endParaRPr lang="en-US" sz="900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9266F39E-C0ED-421F-C71C-4417A6F413ED}"/>
                </a:ext>
              </a:extLst>
            </p:cNvPr>
            <p:cNvSpPr/>
            <p:nvPr/>
          </p:nvSpPr>
          <p:spPr>
            <a:xfrm>
              <a:off x="3895344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352BC64F-AB70-70A0-E1C8-52B9FE580E90}"/>
                </a:ext>
              </a:extLst>
            </p:cNvPr>
            <p:cNvSpPr/>
            <p:nvPr/>
          </p:nvSpPr>
          <p:spPr>
            <a:xfrm>
              <a:off x="3895344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7EEFC815-4931-3675-C84F-06E192BFE7A5}"/>
                </a:ext>
              </a:extLst>
            </p:cNvPr>
            <p:cNvSpPr/>
            <p:nvPr/>
          </p:nvSpPr>
          <p:spPr>
            <a:xfrm>
              <a:off x="4334256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CD1643D8-BE00-B6C2-782E-24E5E32DFE24}"/>
                </a:ext>
              </a:extLst>
            </p:cNvPr>
            <p:cNvSpPr/>
            <p:nvPr/>
          </p:nvSpPr>
          <p:spPr>
            <a:xfrm>
              <a:off x="4334256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200" dirty="0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87698939-B80B-896C-F9BC-A176F02F4130}"/>
                </a:ext>
              </a:extLst>
            </p:cNvPr>
            <p:cNvSpPr/>
            <p:nvPr/>
          </p:nvSpPr>
          <p:spPr>
            <a:xfrm>
              <a:off x="4773168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BD336EDC-A42B-56A0-03C1-0105C648E3AC}"/>
                </a:ext>
              </a:extLst>
            </p:cNvPr>
            <p:cNvSpPr/>
            <p:nvPr/>
          </p:nvSpPr>
          <p:spPr>
            <a:xfrm>
              <a:off x="4773168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9E3D1DFA-7F4B-637A-903D-22F26B1E4BB4}"/>
                </a:ext>
              </a:extLst>
            </p:cNvPr>
            <p:cNvSpPr/>
            <p:nvPr/>
          </p:nvSpPr>
          <p:spPr>
            <a:xfrm>
              <a:off x="5989320" y="822960"/>
              <a:ext cx="2743200" cy="96012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F0CC212C-50D8-43B7-008D-FCC4B2662FFE}"/>
                </a:ext>
              </a:extLst>
            </p:cNvPr>
            <p:cNvSpPr/>
            <p:nvPr/>
          </p:nvSpPr>
          <p:spPr>
            <a:xfrm>
              <a:off x="5989320" y="17830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flex-end</a:t>
              </a:r>
              <a:endParaRPr lang="en-US" sz="900" dirty="0"/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8255FFDF-EEBB-A75C-77BA-0A6BBA6607AF}"/>
                </a:ext>
              </a:extLst>
            </p:cNvPr>
            <p:cNvSpPr/>
            <p:nvPr/>
          </p:nvSpPr>
          <p:spPr>
            <a:xfrm>
              <a:off x="7415784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BB09D855-FEE3-6870-2502-AB5E2743E738}"/>
                </a:ext>
              </a:extLst>
            </p:cNvPr>
            <p:cNvSpPr/>
            <p:nvPr/>
          </p:nvSpPr>
          <p:spPr>
            <a:xfrm>
              <a:off x="7415784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5CC84526-E448-EA19-30DD-3AA75D9169C1}"/>
                </a:ext>
              </a:extLst>
            </p:cNvPr>
            <p:cNvSpPr/>
            <p:nvPr/>
          </p:nvSpPr>
          <p:spPr>
            <a:xfrm>
              <a:off x="7854696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B341C3D4-3419-1774-207B-1F9F98C39976}"/>
                </a:ext>
              </a:extLst>
            </p:cNvPr>
            <p:cNvSpPr/>
            <p:nvPr/>
          </p:nvSpPr>
          <p:spPr>
            <a:xfrm>
              <a:off x="7854696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200" dirty="0"/>
            </a:p>
          </p:txBody>
        </p:sp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CB7FABB2-D302-0730-94CB-04E8247C164F}"/>
                </a:ext>
              </a:extLst>
            </p:cNvPr>
            <p:cNvSpPr/>
            <p:nvPr/>
          </p:nvSpPr>
          <p:spPr>
            <a:xfrm>
              <a:off x="8293608" y="9875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B56E892C-592B-CB1A-9BD5-A17DE1CD3A3B}"/>
                </a:ext>
              </a:extLst>
            </p:cNvPr>
            <p:cNvSpPr/>
            <p:nvPr/>
          </p:nvSpPr>
          <p:spPr>
            <a:xfrm>
              <a:off x="8293608" y="9875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29" name="Shape 26">
              <a:extLst>
                <a:ext uri="{FF2B5EF4-FFF2-40B4-BE49-F238E27FC236}">
                  <a16:creationId xmlns:a16="http://schemas.microsoft.com/office/drawing/2014/main" id="{B9ECD201-559F-0DB6-10C0-D3E767E1B28E}"/>
                </a:ext>
              </a:extLst>
            </p:cNvPr>
            <p:cNvSpPr/>
            <p:nvPr/>
          </p:nvSpPr>
          <p:spPr>
            <a:xfrm>
              <a:off x="320040" y="2194560"/>
              <a:ext cx="2743200" cy="96012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B03FD83D-65B0-AC10-EABB-038B477E7775}"/>
                </a:ext>
              </a:extLst>
            </p:cNvPr>
            <p:cNvSpPr/>
            <p:nvPr/>
          </p:nvSpPr>
          <p:spPr>
            <a:xfrm>
              <a:off x="320040" y="31546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space-between</a:t>
              </a:r>
              <a:endParaRPr lang="en-US" sz="900" dirty="0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6330F5CF-214B-782F-7507-7BC19CCAFA08}"/>
                </a:ext>
              </a:extLst>
            </p:cNvPr>
            <p:cNvSpPr/>
            <p:nvPr/>
          </p:nvSpPr>
          <p:spPr>
            <a:xfrm>
              <a:off x="374904" y="23591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32" name="Text 29">
              <a:extLst>
                <a:ext uri="{FF2B5EF4-FFF2-40B4-BE49-F238E27FC236}">
                  <a16:creationId xmlns:a16="http://schemas.microsoft.com/office/drawing/2014/main" id="{356AE4A1-F5E6-D042-C421-A6190DD1DCEB}"/>
                </a:ext>
              </a:extLst>
            </p:cNvPr>
            <p:cNvSpPr/>
            <p:nvPr/>
          </p:nvSpPr>
          <p:spPr>
            <a:xfrm>
              <a:off x="374904" y="23591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FDCE1A33-891D-FFE3-D831-57D7D98CE9D8}"/>
                </a:ext>
              </a:extLst>
            </p:cNvPr>
            <p:cNvSpPr/>
            <p:nvPr/>
          </p:nvSpPr>
          <p:spPr>
            <a:xfrm>
              <a:off x="1517659" y="23591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6A9D53C0-8435-8674-6111-355E7AEE2067}"/>
                </a:ext>
              </a:extLst>
            </p:cNvPr>
            <p:cNvSpPr/>
            <p:nvPr/>
          </p:nvSpPr>
          <p:spPr>
            <a:xfrm>
              <a:off x="1517659" y="23591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200" dirty="0"/>
            </a:p>
          </p:txBody>
        </p:sp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B98C82A7-2DF9-6C0A-90A5-5E42D300A9F0}"/>
                </a:ext>
              </a:extLst>
            </p:cNvPr>
            <p:cNvSpPr/>
            <p:nvPr/>
          </p:nvSpPr>
          <p:spPr>
            <a:xfrm>
              <a:off x="2615184" y="2368296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4ED59A62-D1BD-0BE9-412F-63B9A45D799F}"/>
                </a:ext>
              </a:extLst>
            </p:cNvPr>
            <p:cNvSpPr/>
            <p:nvPr/>
          </p:nvSpPr>
          <p:spPr>
            <a:xfrm>
              <a:off x="2615182" y="235089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37" name="Shape 34">
              <a:extLst>
                <a:ext uri="{FF2B5EF4-FFF2-40B4-BE49-F238E27FC236}">
                  <a16:creationId xmlns:a16="http://schemas.microsoft.com/office/drawing/2014/main" id="{E37DC577-9E52-983C-73E4-9A9C8DB96D80}"/>
                </a:ext>
              </a:extLst>
            </p:cNvPr>
            <p:cNvSpPr/>
            <p:nvPr/>
          </p:nvSpPr>
          <p:spPr>
            <a:xfrm>
              <a:off x="4663440" y="2194560"/>
              <a:ext cx="2743200" cy="96012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CFA0258E-27DC-A39C-3305-962EB6C1EA9F}"/>
                </a:ext>
              </a:extLst>
            </p:cNvPr>
            <p:cNvSpPr/>
            <p:nvPr/>
          </p:nvSpPr>
          <p:spPr>
            <a:xfrm>
              <a:off x="4663440" y="3154680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space-around</a:t>
              </a:r>
              <a:endParaRPr lang="en-US" sz="900" dirty="0"/>
            </a:p>
          </p:txBody>
        </p:sp>
        <p:sp>
          <p:nvSpPr>
            <p:cNvPr id="39" name="Shape 36">
              <a:extLst>
                <a:ext uri="{FF2B5EF4-FFF2-40B4-BE49-F238E27FC236}">
                  <a16:creationId xmlns:a16="http://schemas.microsoft.com/office/drawing/2014/main" id="{A52411B9-CE24-5DA9-D7F8-889A7DAC4D56}"/>
                </a:ext>
              </a:extLst>
            </p:cNvPr>
            <p:cNvSpPr/>
            <p:nvPr/>
          </p:nvSpPr>
          <p:spPr>
            <a:xfrm>
              <a:off x="5033772" y="23591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96F25E0B-E92D-0F14-D3A5-9D9CB86B3AB5}"/>
                </a:ext>
              </a:extLst>
            </p:cNvPr>
            <p:cNvSpPr/>
            <p:nvPr/>
          </p:nvSpPr>
          <p:spPr>
            <a:xfrm>
              <a:off x="5033772" y="23591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200" dirty="0"/>
            </a:p>
          </p:txBody>
        </p:sp>
        <p:sp>
          <p:nvSpPr>
            <p:cNvPr id="41" name="Shape 38">
              <a:extLst>
                <a:ext uri="{FF2B5EF4-FFF2-40B4-BE49-F238E27FC236}">
                  <a16:creationId xmlns:a16="http://schemas.microsoft.com/office/drawing/2014/main" id="{4B02352B-3FF5-AA05-BF62-E5AE0FD2A036}"/>
                </a:ext>
              </a:extLst>
            </p:cNvPr>
            <p:cNvSpPr/>
            <p:nvPr/>
          </p:nvSpPr>
          <p:spPr>
            <a:xfrm>
              <a:off x="5788152" y="23591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42" name="Text 39">
              <a:extLst>
                <a:ext uri="{FF2B5EF4-FFF2-40B4-BE49-F238E27FC236}">
                  <a16:creationId xmlns:a16="http://schemas.microsoft.com/office/drawing/2014/main" id="{65CDCB72-0D49-F224-6EBC-EA2E336D1BCC}"/>
                </a:ext>
              </a:extLst>
            </p:cNvPr>
            <p:cNvSpPr/>
            <p:nvPr/>
          </p:nvSpPr>
          <p:spPr>
            <a:xfrm>
              <a:off x="5788152" y="23591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200" dirty="0"/>
            </a:p>
          </p:txBody>
        </p:sp>
        <p:sp>
          <p:nvSpPr>
            <p:cNvPr id="43" name="Shape 40">
              <a:extLst>
                <a:ext uri="{FF2B5EF4-FFF2-40B4-BE49-F238E27FC236}">
                  <a16:creationId xmlns:a16="http://schemas.microsoft.com/office/drawing/2014/main" id="{C2CD4C09-E935-0BF2-9DF5-3DF62849F44B}"/>
                </a:ext>
              </a:extLst>
            </p:cNvPr>
            <p:cNvSpPr/>
            <p:nvPr/>
          </p:nvSpPr>
          <p:spPr>
            <a:xfrm>
              <a:off x="6542532" y="2359152"/>
              <a:ext cx="384048" cy="5029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44" name="Text 41">
              <a:extLst>
                <a:ext uri="{FF2B5EF4-FFF2-40B4-BE49-F238E27FC236}">
                  <a16:creationId xmlns:a16="http://schemas.microsoft.com/office/drawing/2014/main" id="{CD3B62F6-7C78-00E7-0853-794AD0666930}"/>
                </a:ext>
              </a:extLst>
            </p:cNvPr>
            <p:cNvSpPr/>
            <p:nvPr/>
          </p:nvSpPr>
          <p:spPr>
            <a:xfrm>
              <a:off x="6542532" y="2359152"/>
              <a:ext cx="384048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C248B11D-03C7-8F79-C379-5625A104B3D8}"/>
                </a:ext>
              </a:extLst>
            </p:cNvPr>
            <p:cNvSpPr/>
            <p:nvPr/>
          </p:nvSpPr>
          <p:spPr>
            <a:xfrm>
              <a:off x="320040" y="3383280"/>
              <a:ext cx="85496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align-items (Cross Axis):</a:t>
              </a:r>
              <a:endParaRPr lang="en-US" sz="1300" dirty="0"/>
            </a:p>
          </p:txBody>
        </p:sp>
        <p:sp>
          <p:nvSpPr>
            <p:cNvPr id="46" name="Shape 43">
              <a:extLst>
                <a:ext uri="{FF2B5EF4-FFF2-40B4-BE49-F238E27FC236}">
                  <a16:creationId xmlns:a16="http://schemas.microsoft.com/office/drawing/2014/main" id="{6A8A0FC5-14B8-7DAC-37D6-5E6E49CADD8A}"/>
                </a:ext>
              </a:extLst>
            </p:cNvPr>
            <p:cNvSpPr/>
            <p:nvPr/>
          </p:nvSpPr>
          <p:spPr>
            <a:xfrm>
              <a:off x="320040" y="3749040"/>
              <a:ext cx="1965960" cy="105156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6A48C730-5814-0641-C4BC-1E5E966CDB6F}"/>
                </a:ext>
              </a:extLst>
            </p:cNvPr>
            <p:cNvSpPr/>
            <p:nvPr/>
          </p:nvSpPr>
          <p:spPr>
            <a:xfrm>
              <a:off x="320040" y="4800600"/>
              <a:ext cx="19659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flex-start</a:t>
              </a:r>
              <a:endParaRPr lang="en-US" sz="850" dirty="0"/>
            </a:p>
          </p:txBody>
        </p:sp>
        <p:sp>
          <p:nvSpPr>
            <p:cNvPr id="48" name="Shape 45">
              <a:extLst>
                <a:ext uri="{FF2B5EF4-FFF2-40B4-BE49-F238E27FC236}">
                  <a16:creationId xmlns:a16="http://schemas.microsoft.com/office/drawing/2014/main" id="{BB7FF75C-357B-3F7F-6F03-52AABFAA7423}"/>
                </a:ext>
              </a:extLst>
            </p:cNvPr>
            <p:cNvSpPr/>
            <p:nvPr/>
          </p:nvSpPr>
          <p:spPr>
            <a:xfrm>
              <a:off x="393192" y="382219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Shape 46">
              <a:extLst>
                <a:ext uri="{FF2B5EF4-FFF2-40B4-BE49-F238E27FC236}">
                  <a16:creationId xmlns:a16="http://schemas.microsoft.com/office/drawing/2014/main" id="{2788A25D-D713-C7FC-D66E-86891F7AEE8F}"/>
                </a:ext>
              </a:extLst>
            </p:cNvPr>
            <p:cNvSpPr/>
            <p:nvPr/>
          </p:nvSpPr>
          <p:spPr>
            <a:xfrm>
              <a:off x="996696" y="382219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0" name="Shape 47">
              <a:extLst>
                <a:ext uri="{FF2B5EF4-FFF2-40B4-BE49-F238E27FC236}">
                  <a16:creationId xmlns:a16="http://schemas.microsoft.com/office/drawing/2014/main" id="{42650B28-FDA9-3A0C-D728-096A648A63B4}"/>
                </a:ext>
              </a:extLst>
            </p:cNvPr>
            <p:cNvSpPr/>
            <p:nvPr/>
          </p:nvSpPr>
          <p:spPr>
            <a:xfrm>
              <a:off x="1600200" y="382219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Shape 48">
              <a:extLst>
                <a:ext uri="{FF2B5EF4-FFF2-40B4-BE49-F238E27FC236}">
                  <a16:creationId xmlns:a16="http://schemas.microsoft.com/office/drawing/2014/main" id="{256250DD-AF15-2F7E-1F42-52061248CB44}"/>
                </a:ext>
              </a:extLst>
            </p:cNvPr>
            <p:cNvSpPr/>
            <p:nvPr/>
          </p:nvSpPr>
          <p:spPr>
            <a:xfrm>
              <a:off x="2496312" y="3749040"/>
              <a:ext cx="1965960" cy="105156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Text 49">
              <a:extLst>
                <a:ext uri="{FF2B5EF4-FFF2-40B4-BE49-F238E27FC236}">
                  <a16:creationId xmlns:a16="http://schemas.microsoft.com/office/drawing/2014/main" id="{A0789C41-0E5D-3697-FB4F-2EDE660C07ED}"/>
                </a:ext>
              </a:extLst>
            </p:cNvPr>
            <p:cNvSpPr/>
            <p:nvPr/>
          </p:nvSpPr>
          <p:spPr>
            <a:xfrm>
              <a:off x="2496312" y="4800600"/>
              <a:ext cx="19659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center</a:t>
              </a:r>
              <a:endParaRPr lang="en-US" sz="850" dirty="0"/>
            </a:p>
          </p:txBody>
        </p:sp>
        <p:sp>
          <p:nvSpPr>
            <p:cNvPr id="53" name="Shape 50">
              <a:extLst>
                <a:ext uri="{FF2B5EF4-FFF2-40B4-BE49-F238E27FC236}">
                  <a16:creationId xmlns:a16="http://schemas.microsoft.com/office/drawing/2014/main" id="{149BC2AB-9225-CE78-5634-C40E77B2C2CB}"/>
                </a:ext>
              </a:extLst>
            </p:cNvPr>
            <p:cNvSpPr/>
            <p:nvPr/>
          </p:nvSpPr>
          <p:spPr>
            <a:xfrm>
              <a:off x="2569464" y="409651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4" name="Shape 51">
              <a:extLst>
                <a:ext uri="{FF2B5EF4-FFF2-40B4-BE49-F238E27FC236}">
                  <a16:creationId xmlns:a16="http://schemas.microsoft.com/office/drawing/2014/main" id="{6E5CDF49-AF69-1557-BFCB-7AC9706917E2}"/>
                </a:ext>
              </a:extLst>
            </p:cNvPr>
            <p:cNvSpPr/>
            <p:nvPr/>
          </p:nvSpPr>
          <p:spPr>
            <a:xfrm>
              <a:off x="3172968" y="409651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5" name="Shape 52">
              <a:extLst>
                <a:ext uri="{FF2B5EF4-FFF2-40B4-BE49-F238E27FC236}">
                  <a16:creationId xmlns:a16="http://schemas.microsoft.com/office/drawing/2014/main" id="{869C8C20-C3DC-DA6A-F42C-E73836BF2C4F}"/>
                </a:ext>
              </a:extLst>
            </p:cNvPr>
            <p:cNvSpPr/>
            <p:nvPr/>
          </p:nvSpPr>
          <p:spPr>
            <a:xfrm>
              <a:off x="3776472" y="409651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6" name="Shape 53">
              <a:extLst>
                <a:ext uri="{FF2B5EF4-FFF2-40B4-BE49-F238E27FC236}">
                  <a16:creationId xmlns:a16="http://schemas.microsoft.com/office/drawing/2014/main" id="{6EE7F87A-5404-C0E6-8448-2AF33531874A}"/>
                </a:ext>
              </a:extLst>
            </p:cNvPr>
            <p:cNvSpPr/>
            <p:nvPr/>
          </p:nvSpPr>
          <p:spPr>
            <a:xfrm>
              <a:off x="4672584" y="3749040"/>
              <a:ext cx="1965960" cy="105156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56B3D09C-F94E-5ADC-BFEF-E7C37FBAE62A}"/>
                </a:ext>
              </a:extLst>
            </p:cNvPr>
            <p:cNvSpPr/>
            <p:nvPr/>
          </p:nvSpPr>
          <p:spPr>
            <a:xfrm>
              <a:off x="4672584" y="4800600"/>
              <a:ext cx="19659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flex-end</a:t>
              </a:r>
              <a:endParaRPr lang="en-US" sz="850" dirty="0"/>
            </a:p>
          </p:txBody>
        </p:sp>
        <p:sp>
          <p:nvSpPr>
            <p:cNvPr id="58" name="Shape 55">
              <a:extLst>
                <a:ext uri="{FF2B5EF4-FFF2-40B4-BE49-F238E27FC236}">
                  <a16:creationId xmlns:a16="http://schemas.microsoft.com/office/drawing/2014/main" id="{DF147303-D72D-6DB2-3841-7D3B8502BB02}"/>
                </a:ext>
              </a:extLst>
            </p:cNvPr>
            <p:cNvSpPr/>
            <p:nvPr/>
          </p:nvSpPr>
          <p:spPr>
            <a:xfrm>
              <a:off x="4745736" y="437083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59" name="Shape 56">
              <a:extLst>
                <a:ext uri="{FF2B5EF4-FFF2-40B4-BE49-F238E27FC236}">
                  <a16:creationId xmlns:a16="http://schemas.microsoft.com/office/drawing/2014/main" id="{AE296CC0-1A30-353B-0E38-48506F459996}"/>
                </a:ext>
              </a:extLst>
            </p:cNvPr>
            <p:cNvSpPr/>
            <p:nvPr/>
          </p:nvSpPr>
          <p:spPr>
            <a:xfrm>
              <a:off x="5349240" y="437083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60" name="Shape 57">
              <a:extLst>
                <a:ext uri="{FF2B5EF4-FFF2-40B4-BE49-F238E27FC236}">
                  <a16:creationId xmlns:a16="http://schemas.microsoft.com/office/drawing/2014/main" id="{5A9F3E47-2F73-AE48-0C1C-CEDFBE1A2377}"/>
                </a:ext>
              </a:extLst>
            </p:cNvPr>
            <p:cNvSpPr/>
            <p:nvPr/>
          </p:nvSpPr>
          <p:spPr>
            <a:xfrm>
              <a:off x="5952744" y="4370832"/>
              <a:ext cx="475488" cy="3657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61" name="Shape 58">
              <a:extLst>
                <a:ext uri="{FF2B5EF4-FFF2-40B4-BE49-F238E27FC236}">
                  <a16:creationId xmlns:a16="http://schemas.microsoft.com/office/drawing/2014/main" id="{354D8BE2-1E36-5E3D-A607-8D9532E922EE}"/>
                </a:ext>
              </a:extLst>
            </p:cNvPr>
            <p:cNvSpPr/>
            <p:nvPr/>
          </p:nvSpPr>
          <p:spPr>
            <a:xfrm>
              <a:off x="6848856" y="3749040"/>
              <a:ext cx="1965960" cy="1051560"/>
            </a:xfrm>
            <a:prstGeom prst="rect">
              <a:avLst/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2" name="Text 59">
              <a:extLst>
                <a:ext uri="{FF2B5EF4-FFF2-40B4-BE49-F238E27FC236}">
                  <a16:creationId xmlns:a16="http://schemas.microsoft.com/office/drawing/2014/main" id="{BFB555B4-EE9B-3A67-4335-9C5708E86A9A}"/>
                </a:ext>
              </a:extLst>
            </p:cNvPr>
            <p:cNvSpPr/>
            <p:nvPr/>
          </p:nvSpPr>
          <p:spPr>
            <a:xfrm>
              <a:off x="6848856" y="4800600"/>
              <a:ext cx="19659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7C3AE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stretch</a:t>
              </a:r>
              <a:endParaRPr lang="en-US" sz="850" dirty="0"/>
            </a:p>
          </p:txBody>
        </p:sp>
        <p:sp>
          <p:nvSpPr>
            <p:cNvPr id="63" name="Shape 60">
              <a:extLst>
                <a:ext uri="{FF2B5EF4-FFF2-40B4-BE49-F238E27FC236}">
                  <a16:creationId xmlns:a16="http://schemas.microsoft.com/office/drawing/2014/main" id="{60EAFBF7-4B79-5831-B763-22B82FE75471}"/>
                </a:ext>
              </a:extLst>
            </p:cNvPr>
            <p:cNvSpPr/>
            <p:nvPr/>
          </p:nvSpPr>
          <p:spPr>
            <a:xfrm>
              <a:off x="6922008" y="3822192"/>
              <a:ext cx="475488" cy="8229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64" name="Shape 61">
              <a:extLst>
                <a:ext uri="{FF2B5EF4-FFF2-40B4-BE49-F238E27FC236}">
                  <a16:creationId xmlns:a16="http://schemas.microsoft.com/office/drawing/2014/main" id="{8AA641B6-02FE-F714-5638-D78A82814E33}"/>
                </a:ext>
              </a:extLst>
            </p:cNvPr>
            <p:cNvSpPr/>
            <p:nvPr/>
          </p:nvSpPr>
          <p:spPr>
            <a:xfrm>
              <a:off x="7525512" y="3822192"/>
              <a:ext cx="475488" cy="8229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65" name="Shape 62">
              <a:extLst>
                <a:ext uri="{FF2B5EF4-FFF2-40B4-BE49-F238E27FC236}">
                  <a16:creationId xmlns:a16="http://schemas.microsoft.com/office/drawing/2014/main" id="{A10628FC-87C8-2983-0201-463BC0805286}"/>
                </a:ext>
              </a:extLst>
            </p:cNvPr>
            <p:cNvSpPr/>
            <p:nvPr/>
          </p:nvSpPr>
          <p:spPr>
            <a:xfrm>
              <a:off x="8129016" y="3822192"/>
              <a:ext cx="475488" cy="82296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67" name="Text 42">
            <a:extLst>
              <a:ext uri="{FF2B5EF4-FFF2-40B4-BE49-F238E27FC236}">
                <a16:creationId xmlns:a16="http://schemas.microsoft.com/office/drawing/2014/main" id="{C14211F3-891D-FA7A-7F5B-E5DE01B3C16A}"/>
              </a:ext>
            </a:extLst>
          </p:cNvPr>
          <p:cNvSpPr/>
          <p:nvPr/>
        </p:nvSpPr>
        <p:spPr>
          <a:xfrm>
            <a:off x="645857" y="923899"/>
            <a:ext cx="7775171" cy="2910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(Main Axis):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26990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AE5C-0E32-6433-08E7-1049AC4D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Flexbox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AF7FE5-0D4A-4F9D-C2D2-6D2EA7062BD2}"/>
              </a:ext>
            </a:extLst>
          </p:cNvPr>
          <p:cNvGrpSpPr/>
          <p:nvPr/>
        </p:nvGrpSpPr>
        <p:grpSpPr>
          <a:xfrm>
            <a:off x="2644394" y="1383758"/>
            <a:ext cx="1651567" cy="2987762"/>
            <a:chOff x="4645324" y="1256695"/>
            <a:chExt cx="1651567" cy="2987762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127B602A-AA00-2300-8480-666723923FE7}"/>
                </a:ext>
              </a:extLst>
            </p:cNvPr>
            <p:cNvSpPr/>
            <p:nvPr/>
          </p:nvSpPr>
          <p:spPr>
            <a:xfrm>
              <a:off x="4645324" y="1256695"/>
              <a:ext cx="1651567" cy="298776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D3A012C5-3158-1173-8167-6111609BCB58}"/>
                </a:ext>
              </a:extLst>
            </p:cNvPr>
            <p:cNvSpPr/>
            <p:nvPr/>
          </p:nvSpPr>
          <p:spPr>
            <a:xfrm>
              <a:off x="4645324" y="1260965"/>
              <a:ext cx="1651567" cy="28757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C90ECF10-DB11-EC20-0634-AB32CB4828DF}"/>
                </a:ext>
              </a:extLst>
            </p:cNvPr>
            <p:cNvSpPr/>
            <p:nvPr/>
          </p:nvSpPr>
          <p:spPr>
            <a:xfrm>
              <a:off x="4645324" y="1281352"/>
              <a:ext cx="1651567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902516-D288-34F9-9F1A-FB54FF132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0157" y="1548544"/>
              <a:ext cx="913614" cy="2695913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FBCAF68-6CC1-F953-A791-E78AD533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4" y="1383758"/>
            <a:ext cx="1916579" cy="34608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927C43-AAC9-D165-024E-39A01E889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919" y="2180461"/>
            <a:ext cx="1740410" cy="60100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B0E6B0B-0E91-00C6-DF9D-080B2174B8C5}"/>
              </a:ext>
            </a:extLst>
          </p:cNvPr>
          <p:cNvGrpSpPr/>
          <p:nvPr/>
        </p:nvGrpSpPr>
        <p:grpSpPr>
          <a:xfrm>
            <a:off x="6744287" y="1375104"/>
            <a:ext cx="2136654" cy="2987762"/>
            <a:chOff x="4645324" y="1256695"/>
            <a:chExt cx="1651567" cy="2987762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1F00671D-CB0B-0037-4DA3-BEFF6794B2EC}"/>
                </a:ext>
              </a:extLst>
            </p:cNvPr>
            <p:cNvSpPr/>
            <p:nvPr/>
          </p:nvSpPr>
          <p:spPr>
            <a:xfrm>
              <a:off x="4645324" y="1256695"/>
              <a:ext cx="1651567" cy="298776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FE4BF312-7D88-6FE9-F8BB-1C53AB903224}"/>
                </a:ext>
              </a:extLst>
            </p:cNvPr>
            <p:cNvSpPr/>
            <p:nvPr/>
          </p:nvSpPr>
          <p:spPr>
            <a:xfrm>
              <a:off x="4645324" y="1260965"/>
              <a:ext cx="1651567" cy="287579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512E9541-7E87-BC5A-ECAE-C5786FAB5849}"/>
                </a:ext>
              </a:extLst>
            </p:cNvPr>
            <p:cNvSpPr/>
            <p:nvPr/>
          </p:nvSpPr>
          <p:spPr>
            <a:xfrm>
              <a:off x="4645324" y="1281352"/>
              <a:ext cx="1651567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● ●  Browser Preview</a:t>
              </a:r>
              <a:endParaRPr lang="en-US" sz="8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AE4FB29-F663-D397-12DA-0641F1FEED8B}"/>
              </a:ext>
            </a:extLst>
          </p:cNvPr>
          <p:cNvSpPr txBox="1"/>
          <p:nvPr/>
        </p:nvSpPr>
        <p:spPr>
          <a:xfrm>
            <a:off x="383227" y="1059360"/>
            <a:ext cx="3912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i="1" dirty="0"/>
              <a:t>wk2example22.html</a:t>
            </a:r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1A886-BBBC-C928-D111-8A6E71438769}"/>
              </a:ext>
            </a:extLst>
          </p:cNvPr>
          <p:cNvSpPr txBox="1"/>
          <p:nvPr/>
        </p:nvSpPr>
        <p:spPr>
          <a:xfrm>
            <a:off x="4649919" y="1900537"/>
            <a:ext cx="15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After adding this: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DD3186-8653-9683-BE4F-3FE6EEB96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543" y="1687340"/>
            <a:ext cx="1960141" cy="601005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138D9D-003D-933A-6057-8DB52E843E2D}"/>
              </a:ext>
            </a:extLst>
          </p:cNvPr>
          <p:cNvCxnSpPr>
            <a:stCxn id="5" idx="3"/>
            <a:endCxn id="16" idx="1"/>
          </p:cNvCxnSpPr>
          <p:nvPr/>
        </p:nvCxnSpPr>
        <p:spPr>
          <a:xfrm flipV="1">
            <a:off x="4295961" y="2868985"/>
            <a:ext cx="2448326" cy="8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21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F4E4-7EB6-B059-7262-AAB9725A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1304"/>
            <a:ext cx="8520600" cy="831300"/>
          </a:xfrm>
        </p:spPr>
        <p:txBody>
          <a:bodyPr/>
          <a:lstStyle/>
          <a:p>
            <a:r>
              <a:rPr lang="en-SG" dirty="0"/>
              <a:t>Grid – Core concept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CDD3FD-8CD1-8E9D-C07C-BBBA6347F9CF}"/>
              </a:ext>
            </a:extLst>
          </p:cNvPr>
          <p:cNvSpPr/>
          <p:nvPr/>
        </p:nvSpPr>
        <p:spPr>
          <a:xfrm>
            <a:off x="311700" y="1082040"/>
            <a:ext cx="8549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= explicit rows + columns. Items placed in cells or spanning across them.</a:t>
            </a:r>
            <a:endParaRPr lang="en-US" sz="12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3ED6EC7-AD19-594C-CCC2-F36C9FFC1B09}"/>
              </a:ext>
            </a:extLst>
          </p:cNvPr>
          <p:cNvSpPr/>
          <p:nvPr/>
        </p:nvSpPr>
        <p:spPr>
          <a:xfrm>
            <a:off x="311700" y="1475232"/>
            <a:ext cx="457200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F9F18AC-75D4-0A08-E298-9B204A0A73E5}"/>
              </a:ext>
            </a:extLst>
          </p:cNvPr>
          <p:cNvSpPr/>
          <p:nvPr/>
        </p:nvSpPr>
        <p:spPr>
          <a:xfrm>
            <a:off x="384852" y="1548384"/>
            <a:ext cx="4425696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.grid-container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3 columns: first fixed, middle flexible, last fixed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 1fr 200px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3 rows with explicit heights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60px 1fr 40px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Gap between cells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12px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Child spanning multiple columns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header, footer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4;  /* span all 3 columns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F06FC8C-BAB3-F881-9F87-0DC374B57636}"/>
              </a:ext>
            </a:extLst>
          </p:cNvPr>
          <p:cNvSpPr/>
          <p:nvPr/>
        </p:nvSpPr>
        <p:spPr>
          <a:xfrm>
            <a:off x="5007797" y="1475232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5F86FD8-31ED-7218-AD3F-F2C288974BEC}"/>
              </a:ext>
            </a:extLst>
          </p:cNvPr>
          <p:cNvSpPr/>
          <p:nvPr/>
        </p:nvSpPr>
        <p:spPr>
          <a:xfrm>
            <a:off x="5112300" y="1520952"/>
            <a:ext cx="365760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5323417-9C31-4621-43E4-1553956FF7DB}"/>
              </a:ext>
            </a:extLst>
          </p:cNvPr>
          <p:cNvSpPr/>
          <p:nvPr/>
        </p:nvSpPr>
        <p:spPr>
          <a:xfrm>
            <a:off x="5139732" y="1548384"/>
            <a:ext cx="3602736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AB33B99-2C4C-A1B6-00A5-99500294E7D8}"/>
              </a:ext>
            </a:extLst>
          </p:cNvPr>
          <p:cNvSpPr/>
          <p:nvPr/>
        </p:nvSpPr>
        <p:spPr>
          <a:xfrm>
            <a:off x="5139732" y="1548384"/>
            <a:ext cx="3602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(grid-column: 1/4)</a:t>
            </a:r>
            <a:endParaRPr lang="en-US" sz="9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EB4EE95-AAC9-D0E2-A0AC-B48F2FCF31BD}"/>
              </a:ext>
            </a:extLst>
          </p:cNvPr>
          <p:cNvSpPr/>
          <p:nvPr/>
        </p:nvSpPr>
        <p:spPr>
          <a:xfrm>
            <a:off x="5139732" y="2142744"/>
            <a:ext cx="1005840" cy="2194560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86A4EC-7B7D-A5D9-35C1-618C5BB2E972}"/>
              </a:ext>
            </a:extLst>
          </p:cNvPr>
          <p:cNvSpPr/>
          <p:nvPr/>
        </p:nvSpPr>
        <p:spPr>
          <a:xfrm>
            <a:off x="5139732" y="2142744"/>
            <a:ext cx="1005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</a:t>
            </a:r>
            <a:endParaRPr lang="en-US" sz="9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F2880E8-6381-525A-2DC0-8DA69602C031}"/>
              </a:ext>
            </a:extLst>
          </p:cNvPr>
          <p:cNvSpPr/>
          <p:nvPr/>
        </p:nvSpPr>
        <p:spPr>
          <a:xfrm>
            <a:off x="6237012" y="2142744"/>
            <a:ext cx="1508760" cy="2194560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4351728-A67E-81B7-A776-73E892DBD477}"/>
              </a:ext>
            </a:extLst>
          </p:cNvPr>
          <p:cNvSpPr/>
          <p:nvPr/>
        </p:nvSpPr>
        <p:spPr>
          <a:xfrm>
            <a:off x="6237012" y="2142744"/>
            <a:ext cx="1508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(1fr)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46032D1-48D1-A90C-E069-29BF41869810}"/>
              </a:ext>
            </a:extLst>
          </p:cNvPr>
          <p:cNvSpPr/>
          <p:nvPr/>
        </p:nvSpPr>
        <p:spPr>
          <a:xfrm>
            <a:off x="7837212" y="2142744"/>
            <a:ext cx="914400" cy="2194560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7D419E6-4CC0-E731-9671-F8E54658524F}"/>
              </a:ext>
            </a:extLst>
          </p:cNvPr>
          <p:cNvSpPr/>
          <p:nvPr/>
        </p:nvSpPr>
        <p:spPr>
          <a:xfrm>
            <a:off x="7837212" y="2142744"/>
            <a:ext cx="914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</a:t>
            </a:r>
            <a:endParaRPr lang="en-US" sz="9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B5F31C0-0889-145C-4DA5-244DCB65BDE7}"/>
              </a:ext>
            </a:extLst>
          </p:cNvPr>
          <p:cNvSpPr/>
          <p:nvPr/>
        </p:nvSpPr>
        <p:spPr>
          <a:xfrm>
            <a:off x="5139732" y="4428744"/>
            <a:ext cx="3602736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99351F9-5AA3-6AC8-7141-998C96148212}"/>
              </a:ext>
            </a:extLst>
          </p:cNvPr>
          <p:cNvSpPr/>
          <p:nvPr/>
        </p:nvSpPr>
        <p:spPr>
          <a:xfrm>
            <a:off x="5139732" y="442874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 (grid-column: 1/4)</a:t>
            </a:r>
            <a:endParaRPr lang="en-US" sz="900" dirty="0"/>
          </a:p>
        </p:txBody>
      </p:sp>
      <p:sp>
        <p:nvSpPr>
          <p:cNvPr id="22" name="Google Shape;321;p38">
            <a:extLst>
              <a:ext uri="{FF2B5EF4-FFF2-40B4-BE49-F238E27FC236}">
                <a16:creationId xmlns:a16="http://schemas.microsoft.com/office/drawing/2014/main" id="{D82B2E11-3768-4DAB-DF4D-6FEDDD37C8F8}"/>
              </a:ext>
            </a:extLst>
          </p:cNvPr>
          <p:cNvSpPr/>
          <p:nvPr/>
        </p:nvSpPr>
        <p:spPr>
          <a:xfrm>
            <a:off x="5642652" y="855784"/>
            <a:ext cx="2280900" cy="520200"/>
          </a:xfrm>
          <a:prstGeom prst="wedgeRoundRectCallout">
            <a:avLst>
              <a:gd name="adj1" fmla="val 35375"/>
              <a:gd name="adj2" fmla="val 6891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wk2example23.html</a:t>
            </a:r>
            <a:endParaRPr sz="12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88723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7930-86A3-6831-05B3-F59D9C02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6998"/>
            <a:ext cx="8520600" cy="831300"/>
          </a:xfrm>
        </p:spPr>
        <p:txBody>
          <a:bodyPr/>
          <a:lstStyle/>
          <a:p>
            <a:r>
              <a:rPr lang="en-SG" dirty="0"/>
              <a:t>Grid: Template areas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E3C8DE0-BE23-E1BD-F3CD-8DCF4A330B6C}"/>
              </a:ext>
            </a:extLst>
          </p:cNvPr>
          <p:cNvSpPr/>
          <p:nvPr/>
        </p:nvSpPr>
        <p:spPr>
          <a:xfrm>
            <a:off x="320040" y="931301"/>
            <a:ext cx="4754880" cy="317492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2D7A37-B69F-B299-0A56-B417561F1994}"/>
              </a:ext>
            </a:extLst>
          </p:cNvPr>
          <p:cNvSpPr/>
          <p:nvPr/>
        </p:nvSpPr>
        <p:spPr>
          <a:xfrm>
            <a:off x="393192" y="896112"/>
            <a:ext cx="4608576" cy="2641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1fr 3fr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1fr auto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  header"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“sidebar main"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"footer  footer";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90vh</a:t>
            </a: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{ grid-area: header;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 { grid-area</a:t>
            </a:r>
            <a:r>
              <a:rPr lang="en-US" sz="100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sidebar;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{ grid-area: main;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 { grid-area: footer;  }</a:t>
            </a:r>
            <a:endParaRPr lang="en-US" sz="1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A0A9457-BA98-EC5F-F052-6EEC2F45C795}"/>
              </a:ext>
            </a:extLst>
          </p:cNvPr>
          <p:cNvSpPr/>
          <p:nvPr/>
        </p:nvSpPr>
        <p:spPr>
          <a:xfrm>
            <a:off x="5257800" y="931301"/>
            <a:ext cx="356616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88AEE2B-FA8B-A940-15BB-30F9407F6251}"/>
              </a:ext>
            </a:extLst>
          </p:cNvPr>
          <p:cNvSpPr/>
          <p:nvPr/>
        </p:nvSpPr>
        <p:spPr>
          <a:xfrm>
            <a:off x="5257800" y="84124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CE7BBE4-2F26-C563-6C49-28948A8B5912}"/>
              </a:ext>
            </a:extLst>
          </p:cNvPr>
          <p:cNvSpPr/>
          <p:nvPr/>
        </p:nvSpPr>
        <p:spPr>
          <a:xfrm>
            <a:off x="5257800" y="1617101"/>
            <a:ext cx="1051560" cy="1828800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30BD011-DDC4-D5B0-F08E-94F6757C3C99}"/>
              </a:ext>
            </a:extLst>
          </p:cNvPr>
          <p:cNvSpPr/>
          <p:nvPr/>
        </p:nvSpPr>
        <p:spPr>
          <a:xfrm>
            <a:off x="5257800" y="1617101"/>
            <a:ext cx="1051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(1fr)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602E27D-87BE-21E4-728F-F2509BC26232}"/>
              </a:ext>
            </a:extLst>
          </p:cNvPr>
          <p:cNvSpPr/>
          <p:nvPr/>
        </p:nvSpPr>
        <p:spPr>
          <a:xfrm>
            <a:off x="6400800" y="1617101"/>
            <a:ext cx="2423160" cy="1828800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5B93A6E-D790-2565-BD52-EFC81D4E94DA}"/>
              </a:ext>
            </a:extLst>
          </p:cNvPr>
          <p:cNvSpPr/>
          <p:nvPr/>
        </p:nvSpPr>
        <p:spPr>
          <a:xfrm>
            <a:off x="6400800" y="1617101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(3fr)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CBC7645-E481-0BB2-1E78-20EF19229516}"/>
              </a:ext>
            </a:extLst>
          </p:cNvPr>
          <p:cNvSpPr/>
          <p:nvPr/>
        </p:nvSpPr>
        <p:spPr>
          <a:xfrm>
            <a:off x="5257800" y="3537341"/>
            <a:ext cx="356616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C4D693-45BF-6997-CBB1-19DA4AF3F5A5}"/>
              </a:ext>
            </a:extLst>
          </p:cNvPr>
          <p:cNvSpPr/>
          <p:nvPr/>
        </p:nvSpPr>
        <p:spPr>
          <a:xfrm>
            <a:off x="5257800" y="3537341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3328026-2E9A-5FFF-10A3-BDC7A99BE782}"/>
              </a:ext>
            </a:extLst>
          </p:cNvPr>
          <p:cNvSpPr/>
          <p:nvPr/>
        </p:nvSpPr>
        <p:spPr>
          <a:xfrm>
            <a:off x="320040" y="4289102"/>
            <a:ext cx="8503920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4C9F810-E0F4-032A-B974-1AA3BD07AEFF}"/>
              </a:ext>
            </a:extLst>
          </p:cNvPr>
          <p:cNvSpPr/>
          <p:nvPr/>
        </p:nvSpPr>
        <p:spPr>
          <a:xfrm>
            <a:off x="434340" y="4327731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= fractional unit — 1fr 3fr means sidebar gets ¼ of width, main gets ¾.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uses named regions — readable and easy to reorganize.</a:t>
            </a:r>
            <a:endParaRPr lang="en-US" sz="1050" dirty="0"/>
          </a:p>
        </p:txBody>
      </p:sp>
      <p:sp>
        <p:nvSpPr>
          <p:cNvPr id="17" name="Google Shape;321;p38">
            <a:extLst>
              <a:ext uri="{FF2B5EF4-FFF2-40B4-BE49-F238E27FC236}">
                <a16:creationId xmlns:a16="http://schemas.microsoft.com/office/drawing/2014/main" id="{BDAD513A-09C3-472A-5AF2-46B21F79A0F0}"/>
              </a:ext>
            </a:extLst>
          </p:cNvPr>
          <p:cNvSpPr/>
          <p:nvPr/>
        </p:nvSpPr>
        <p:spPr>
          <a:xfrm>
            <a:off x="5670361" y="268237"/>
            <a:ext cx="2280900" cy="520200"/>
          </a:xfrm>
          <a:prstGeom prst="wedgeRoundRectCallout">
            <a:avLst>
              <a:gd name="adj1" fmla="val 35375"/>
              <a:gd name="adj2" fmla="val 6891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wk2example24.html</a:t>
            </a:r>
            <a:endParaRPr sz="12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9823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24B7-1370-BC7B-F4EF-A77D6F06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Flexbox vs Grid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34A08AEC-A99C-9946-27A3-BA7250A07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057899"/>
              </p:ext>
            </p:extLst>
          </p:nvPr>
        </p:nvGraphicFramePr>
        <p:xfrm>
          <a:off x="311700" y="1231670"/>
          <a:ext cx="8549640" cy="2560320"/>
        </p:xfrm>
        <a:graphic>
          <a:graphicData uri="http://schemas.openxmlformats.org/drawingml/2006/table">
            <a:tbl>
              <a:tblPr/>
              <a:tblGrid>
                <a:gridCol w="284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Grid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One-dimensional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(row OR column)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Two-dimensional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(rows AND columns)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bars, toolbars, button groups, centering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layouts, dashboards, image galleries, complex arrangements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vs Layout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Content-driven (items determine size)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Layout-driven (grid defines structure)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A32F9EF9-AF79-7948-5581-6305C7FA4972}"/>
              </a:ext>
            </a:extLst>
          </p:cNvPr>
          <p:cNvSpPr/>
          <p:nvPr/>
        </p:nvSpPr>
        <p:spPr>
          <a:xfrm>
            <a:off x="311700" y="4111392"/>
            <a:ext cx="854964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699BF1F-BB3C-E626-BC03-E4224DB065C9}"/>
              </a:ext>
            </a:extLst>
          </p:cNvPr>
          <p:cNvSpPr/>
          <p:nvPr/>
        </p:nvSpPr>
        <p:spPr>
          <a:xfrm>
            <a:off x="426000" y="42028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Grid for the page skeleton, Flexbox for components inside. 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405054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F9C8-053C-89FB-2C77-2ED1E409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 – Flex and Grid Box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9516-551C-ABED-711E-6448B08EA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Flex box and Grid box to style ex7.html such that it looks like the screenshot on the right.</a:t>
            </a:r>
          </a:p>
          <a:p>
            <a:pPr lvl="1"/>
            <a:r>
              <a:rPr lang="en-US" dirty="0"/>
              <a:t>The nav bar items to be aligned in 1 line with “Dashboard” on the left and the nav items on the right.</a:t>
            </a:r>
          </a:p>
          <a:p>
            <a:pPr lvl="1"/>
            <a:r>
              <a:rPr lang="en-US" dirty="0"/>
              <a:t>A sidebar containing “Filters” and “Regions” with a width of 1/3 page width.</a:t>
            </a:r>
          </a:p>
          <a:p>
            <a:pPr lvl="1"/>
            <a:r>
              <a:rPr lang="en-US" dirty="0"/>
              <a:t>The 3 cards to be arranged in 1 line.</a:t>
            </a:r>
          </a:p>
          <a:p>
            <a:pPr lvl="1"/>
            <a:r>
              <a:rPr lang="en-US" dirty="0"/>
              <a:t>Detailed instructions are </a:t>
            </a:r>
            <a:r>
              <a:rPr lang="en-US"/>
              <a:t>given in the CSS file.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26768-5546-66BD-8019-064663C6C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25225"/>
            <a:ext cx="4260300" cy="23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308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Take Away Message</a:t>
            </a:r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DCD09C-B5B2-E4AF-B77F-3CE9AE1A2000}"/>
              </a:ext>
            </a:extLst>
          </p:cNvPr>
          <p:cNvSpPr/>
          <p:nvPr/>
        </p:nvSpPr>
        <p:spPr>
          <a:xfrm>
            <a:off x="371302" y="1143000"/>
            <a:ext cx="4114800" cy="1143000"/>
          </a:xfrm>
          <a:prstGeom prst="rect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5A145E-96F4-14A9-A5D0-99AAE06D0F76}"/>
              </a:ext>
            </a:extLst>
          </p:cNvPr>
          <p:cNvSpPr/>
          <p:nvPr/>
        </p:nvSpPr>
        <p:spPr>
          <a:xfrm>
            <a:off x="371302" y="1143000"/>
            <a:ext cx="365760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DA18B5-262B-C78E-3C4D-F779CD0AFB5F}"/>
              </a:ext>
            </a:extLst>
          </p:cNvPr>
          <p:cNvSpPr/>
          <p:nvPr/>
        </p:nvSpPr>
        <p:spPr>
          <a:xfrm>
            <a:off x="371302" y="1143000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4BC60A-56EE-D154-8D8C-BB54BC1EDCA2}"/>
              </a:ext>
            </a:extLst>
          </p:cNvPr>
          <p:cNvSpPr/>
          <p:nvPr/>
        </p:nvSpPr>
        <p:spPr>
          <a:xfrm>
            <a:off x="828502" y="1234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&gt; Internal &gt; Inline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3B1DF2-5136-0427-54F7-74D6EFFB442D}"/>
              </a:ext>
            </a:extLst>
          </p:cNvPr>
          <p:cNvSpPr/>
          <p:nvPr/>
        </p:nvSpPr>
        <p:spPr>
          <a:xfrm>
            <a:off x="828502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external stylesheets for all multi-page sites.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7E730B-9A96-8247-2773-4B61795B04FB}"/>
              </a:ext>
            </a:extLst>
          </p:cNvPr>
          <p:cNvSpPr/>
          <p:nvPr/>
        </p:nvSpPr>
        <p:spPr>
          <a:xfrm>
            <a:off x="4714702" y="1143000"/>
            <a:ext cx="4114800" cy="1143000"/>
          </a:xfrm>
          <a:prstGeom prst="rect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0C0AFB-2B45-BB96-5F86-73A2C1EDD185}"/>
              </a:ext>
            </a:extLst>
          </p:cNvPr>
          <p:cNvSpPr/>
          <p:nvPr/>
        </p:nvSpPr>
        <p:spPr>
          <a:xfrm>
            <a:off x="4714702" y="1143000"/>
            <a:ext cx="365760" cy="1143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D694BB3-E035-363D-FC94-33E87387B7C9}"/>
              </a:ext>
            </a:extLst>
          </p:cNvPr>
          <p:cNvSpPr/>
          <p:nvPr/>
        </p:nvSpPr>
        <p:spPr>
          <a:xfrm>
            <a:off x="4714702" y="1143000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0C54E4-3B67-A28C-E84B-56B32CEB5690}"/>
              </a:ext>
            </a:extLst>
          </p:cNvPr>
          <p:cNvSpPr/>
          <p:nvPr/>
        </p:nvSpPr>
        <p:spPr>
          <a:xfrm>
            <a:off x="5171902" y="1234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 property: value; }</a:t>
            </a:r>
            <a:endParaRPr lang="en-US" sz="1200" dirty="0">
              <a:solidFill>
                <a:srgbClr val="0891B2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F46CD7C-F531-A857-9FC3-B134287BE7FF}"/>
              </a:ext>
            </a:extLst>
          </p:cNvPr>
          <p:cNvSpPr/>
          <p:nvPr/>
        </p:nvSpPr>
        <p:spPr>
          <a:xfrm>
            <a:off x="5171902" y="1600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semicolon! It's the most common CSS mistake.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4D7B4C5-2EF5-E989-9B09-C761628FD610}"/>
              </a:ext>
            </a:extLst>
          </p:cNvPr>
          <p:cNvSpPr/>
          <p:nvPr/>
        </p:nvSpPr>
        <p:spPr>
          <a:xfrm>
            <a:off x="371302" y="2441448"/>
            <a:ext cx="4114800" cy="1143000"/>
          </a:xfrm>
          <a:prstGeom prst="rect">
            <a:avLst/>
          </a:prstGeom>
          <a:noFill/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715070-EEC2-D840-C6E6-CDE3A4F468A9}"/>
              </a:ext>
            </a:extLst>
          </p:cNvPr>
          <p:cNvSpPr/>
          <p:nvPr/>
        </p:nvSpPr>
        <p:spPr>
          <a:xfrm>
            <a:off x="371302" y="2441448"/>
            <a:ext cx="365760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233DAD-1578-E8C9-0A4B-373CCBCEB55A}"/>
              </a:ext>
            </a:extLst>
          </p:cNvPr>
          <p:cNvSpPr/>
          <p:nvPr/>
        </p:nvSpPr>
        <p:spPr>
          <a:xfrm>
            <a:off x="371302" y="2441448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43CB88A-D951-1F81-F64C-7ECB03D2A620}"/>
              </a:ext>
            </a:extLst>
          </p:cNvPr>
          <p:cNvSpPr/>
          <p:nvPr/>
        </p:nvSpPr>
        <p:spPr>
          <a:xfrm>
            <a:off x="828502" y="2532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Box Model</a:t>
            </a:r>
            <a:endParaRPr lang="en-US" sz="1200" dirty="0">
              <a:solidFill>
                <a:srgbClr val="EA580C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D527C23-63FE-0E2B-D970-ADD2163B8456}"/>
              </a:ext>
            </a:extLst>
          </p:cNvPr>
          <p:cNvSpPr/>
          <p:nvPr/>
        </p:nvSpPr>
        <p:spPr>
          <a:xfrm>
            <a:off x="828502" y="289864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= content + padding + border + margin. Use box-sizing: border-box.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F3A61A9-2407-8F59-9799-A842C28302DA}"/>
              </a:ext>
            </a:extLst>
          </p:cNvPr>
          <p:cNvSpPr/>
          <p:nvPr/>
        </p:nvSpPr>
        <p:spPr>
          <a:xfrm>
            <a:off x="4714702" y="2441448"/>
            <a:ext cx="4114800" cy="1143000"/>
          </a:xfrm>
          <a:prstGeom prst="rect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ECA1E9-E13A-BD22-4456-9C87C34E35B7}"/>
              </a:ext>
            </a:extLst>
          </p:cNvPr>
          <p:cNvSpPr/>
          <p:nvPr/>
        </p:nvSpPr>
        <p:spPr>
          <a:xfrm>
            <a:off x="4714702" y="2441448"/>
            <a:ext cx="36576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12CF04E-3562-31E7-D178-FD34F6681488}"/>
              </a:ext>
            </a:extLst>
          </p:cNvPr>
          <p:cNvSpPr/>
          <p:nvPr/>
        </p:nvSpPr>
        <p:spPr>
          <a:xfrm>
            <a:off x="4714702" y="2441448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CF279D7-191E-B933-C63F-76744958CAC9}"/>
              </a:ext>
            </a:extLst>
          </p:cNvPr>
          <p:cNvSpPr/>
          <p:nvPr/>
        </p:nvSpPr>
        <p:spPr>
          <a:xfrm>
            <a:off x="5171902" y="2532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Flexbox</a:t>
            </a:r>
            <a:endParaRPr lang="en-US" sz="1200" dirty="0">
              <a:solidFill>
                <a:srgbClr val="7C3AED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7B480A1-4A14-A75B-E84E-9DF7BE9D3C28}"/>
              </a:ext>
            </a:extLst>
          </p:cNvPr>
          <p:cNvSpPr/>
          <p:nvPr/>
        </p:nvSpPr>
        <p:spPr>
          <a:xfrm>
            <a:off x="5171902" y="289864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 (row or column). Perfect for navbars, card rows, centering.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031580E-1F1F-B46B-5767-17CACF2A33D3}"/>
              </a:ext>
            </a:extLst>
          </p:cNvPr>
          <p:cNvSpPr/>
          <p:nvPr/>
        </p:nvSpPr>
        <p:spPr>
          <a:xfrm>
            <a:off x="371302" y="3739896"/>
            <a:ext cx="4114800" cy="1143000"/>
          </a:xfrm>
          <a:prstGeom prst="rect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32497CF-ADE5-63C1-915B-74B25452682C}"/>
              </a:ext>
            </a:extLst>
          </p:cNvPr>
          <p:cNvSpPr/>
          <p:nvPr/>
        </p:nvSpPr>
        <p:spPr>
          <a:xfrm>
            <a:off x="371302" y="3739896"/>
            <a:ext cx="365760" cy="1143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D6BA0F3-3517-B818-7A88-0242C28EF566}"/>
              </a:ext>
            </a:extLst>
          </p:cNvPr>
          <p:cNvSpPr/>
          <p:nvPr/>
        </p:nvSpPr>
        <p:spPr>
          <a:xfrm>
            <a:off x="371302" y="3739896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30B3E5A-95D9-2312-FC9B-EB0851FA12B4}"/>
              </a:ext>
            </a:extLst>
          </p:cNvPr>
          <p:cNvSpPr/>
          <p:nvPr/>
        </p:nvSpPr>
        <p:spPr>
          <a:xfrm>
            <a:off x="828502" y="3831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Grid</a:t>
            </a:r>
            <a:endParaRPr lang="en-US" sz="1200" dirty="0">
              <a:solidFill>
                <a:srgbClr val="DC2626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F9270FD-5BC0-F40F-ABB6-D81D1FC1991E}"/>
              </a:ext>
            </a:extLst>
          </p:cNvPr>
          <p:cNvSpPr/>
          <p:nvPr/>
        </p:nvSpPr>
        <p:spPr>
          <a:xfrm>
            <a:off x="828502" y="419709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simultaneously. Use for page-level layouts and complex grids.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F7984FC-56EF-8E9C-B5AD-7202EB5DE48D}"/>
              </a:ext>
            </a:extLst>
          </p:cNvPr>
          <p:cNvSpPr/>
          <p:nvPr/>
        </p:nvSpPr>
        <p:spPr>
          <a:xfrm>
            <a:off x="4714702" y="3739896"/>
            <a:ext cx="4114800" cy="1143000"/>
          </a:xfrm>
          <a:prstGeom prst="rect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0980181-1BC9-FF35-7054-E02B179D3B6D}"/>
              </a:ext>
            </a:extLst>
          </p:cNvPr>
          <p:cNvSpPr/>
          <p:nvPr/>
        </p:nvSpPr>
        <p:spPr>
          <a:xfrm>
            <a:off x="4714702" y="3739896"/>
            <a:ext cx="365760" cy="11430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FCE1E0-6DFA-236E-37CC-1E0D44FD871B}"/>
              </a:ext>
            </a:extLst>
          </p:cNvPr>
          <p:cNvSpPr/>
          <p:nvPr/>
        </p:nvSpPr>
        <p:spPr>
          <a:xfrm>
            <a:off x="4714702" y="3739896"/>
            <a:ext cx="365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D5A2DA7-D06C-7ACC-DAF3-269F90DFC3C1}"/>
              </a:ext>
            </a:extLst>
          </p:cNvPr>
          <p:cNvSpPr/>
          <p:nvPr/>
        </p:nvSpPr>
        <p:spPr>
          <a:xfrm>
            <a:off x="5171902" y="3831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both together!</a:t>
            </a:r>
            <a:endParaRPr lang="en-US" sz="1200" dirty="0">
              <a:solidFill>
                <a:srgbClr val="16A34A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96CED73-2836-81AC-BD64-36116CB2A4E5}"/>
              </a:ext>
            </a:extLst>
          </p:cNvPr>
          <p:cNvSpPr/>
          <p:nvPr/>
        </p:nvSpPr>
        <p:spPr>
          <a:xfrm>
            <a:off x="5171902" y="419709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for the page skeleton, Flexbox for components inside. They complement each other.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951d41b-6b8e-4636-984f-012bff14ba18}" enabled="1" method="Privilege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3498</Words>
  <Application>Microsoft Office PowerPoint</Application>
  <PresentationFormat>On-screen Show (16:9)</PresentationFormat>
  <Paragraphs>563</Paragraphs>
  <Slides>49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</vt:lpstr>
      <vt:lpstr>Courier New</vt:lpstr>
      <vt:lpstr>Wingdings</vt:lpstr>
      <vt:lpstr>Luxe</vt:lpstr>
      <vt:lpstr>Web Application Development II</vt:lpstr>
      <vt:lpstr>Agenda</vt:lpstr>
      <vt:lpstr>What is CSS?</vt:lpstr>
      <vt:lpstr>What is CSS?</vt:lpstr>
      <vt:lpstr>Using CSS</vt:lpstr>
      <vt:lpstr>CSS: Inline Style</vt:lpstr>
      <vt:lpstr>CSS: Internal Style Sheet</vt:lpstr>
      <vt:lpstr>CSS: External Style Sheet</vt:lpstr>
      <vt:lpstr>Using CSS</vt:lpstr>
      <vt:lpstr>CSS Syntax</vt:lpstr>
      <vt:lpstr>Exercise 1</vt:lpstr>
      <vt:lpstr>CSS Syntax: Selector types</vt:lpstr>
      <vt:lpstr>CSS Syntax: Class selector</vt:lpstr>
      <vt:lpstr>CSS Selectors</vt:lpstr>
      <vt:lpstr>CSS Cascading Order </vt:lpstr>
      <vt:lpstr>CSS Conflict Resolving</vt:lpstr>
      <vt:lpstr>Exercise 2</vt:lpstr>
      <vt:lpstr>CSS: Text properties</vt:lpstr>
      <vt:lpstr>CSS: Display properties</vt:lpstr>
      <vt:lpstr>CSS: Display properties</vt:lpstr>
      <vt:lpstr>CSS: Other properties </vt:lpstr>
      <vt:lpstr>CSS: Color values</vt:lpstr>
      <vt:lpstr>CSS: Units of Measurement </vt:lpstr>
      <vt:lpstr>Exercise 3</vt:lpstr>
      <vt:lpstr>The Box Model</vt:lpstr>
      <vt:lpstr>Decorating Content and Border</vt:lpstr>
      <vt:lpstr>Decorating Border</vt:lpstr>
      <vt:lpstr>Decorating Margin</vt:lpstr>
      <vt:lpstr>Decorating Padding</vt:lpstr>
      <vt:lpstr>Box-sizing</vt:lpstr>
      <vt:lpstr>Exercise 4</vt:lpstr>
      <vt:lpstr>Table Styling</vt:lpstr>
      <vt:lpstr>Table Styling</vt:lpstr>
      <vt:lpstr>Exercise 5: </vt:lpstr>
      <vt:lpstr>Link Properties</vt:lpstr>
      <vt:lpstr>List Properties</vt:lpstr>
      <vt:lpstr>Position Properties</vt:lpstr>
      <vt:lpstr>Relative vs Absolute</vt:lpstr>
      <vt:lpstr>Overlapping Elements</vt:lpstr>
      <vt:lpstr>Styling Forms</vt:lpstr>
      <vt:lpstr>Exercise 6</vt:lpstr>
      <vt:lpstr>Flexbox – Core concept</vt:lpstr>
      <vt:lpstr>Flexbox</vt:lpstr>
      <vt:lpstr>Flexbox</vt:lpstr>
      <vt:lpstr>Grid – Core concept</vt:lpstr>
      <vt:lpstr>Grid: Template areas</vt:lpstr>
      <vt:lpstr>Flexbox vs Grid</vt:lpstr>
      <vt:lpstr>Exercise 7 – Flex and Grid Box</vt:lpstr>
      <vt:lpstr>Take Away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 II</dc:title>
  <dc:creator>Keith</dc:creator>
  <cp:lastModifiedBy>FWA Hua Leong</cp:lastModifiedBy>
  <cp:revision>2</cp:revision>
  <dcterms:modified xsi:type="dcterms:W3CDTF">2026-08-13T01:39:35Z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2022-06-25T16:26:20Z</vt:lpwstr>
  </property>
  <property fmtid="{D5CDD505-2E9C-101B-9397-08002B2CF9AE}" pid="4" name="MSIP_Label_6951d41b-6b8e-4636-984f-012bff14ba18_Method">
    <vt:lpwstr>Privileged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23c9c33e-4767-4dd4-9127-e30bc8ff5bff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Luxe:3</vt:lpwstr>
  </property>
  <property fmtid="{D5CDD505-2E9C-101B-9397-08002B2CF9AE}" pid="10" name="ClassificationContentMarkingHeaderText">
    <vt:lpwstr>SMU Classification: Restricted</vt:lpwstr>
  </property>
</Properties>
</file>